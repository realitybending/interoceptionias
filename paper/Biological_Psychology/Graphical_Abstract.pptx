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"/>
  </p:notesMasterIdLst>
  <p:sldIdLst>
    <p:sldId id="256" r:id="rId2"/>
    <p:sldId id="257" r:id="rId3"/>
  </p:sldIdLst>
  <p:sldSz cx="12650788" cy="50577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9BF4"/>
    <a:srgbClr val="F54D40"/>
    <a:srgbClr val="6D42B9"/>
    <a:srgbClr val="F59303"/>
    <a:srgbClr val="86BB48"/>
    <a:srgbClr val="805E51"/>
    <a:srgbClr val="08988B"/>
    <a:srgbClr val="135390"/>
    <a:srgbClr val="FBC02D"/>
    <a:srgbClr val="C6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–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30" autoAdjust="0"/>
    <p:restoredTop sz="94660"/>
  </p:normalViewPr>
  <p:slideViewPr>
    <p:cSldViewPr snapToGrid="0">
      <p:cViewPr>
        <p:scale>
          <a:sx n="50" d="100"/>
          <a:sy n="50" d="100"/>
        </p:scale>
        <p:origin x="268" y="5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0FB2BC-1632-497D-B21C-762440F48392}" type="datetimeFigureOut">
              <a:rPr lang="en-GB" smtClean="0"/>
              <a:t>30/03/2026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30213" y="1143000"/>
            <a:ext cx="77184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168D4E-EA71-4E3F-809D-D58F146CB1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39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1pPr>
    <a:lvl2pPr marL="424900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2pPr>
    <a:lvl3pPr marL="849798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3pPr>
    <a:lvl4pPr marL="1274698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4pPr>
    <a:lvl5pPr marL="1699598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5pPr>
    <a:lvl6pPr marL="2124499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6pPr>
    <a:lvl7pPr marL="2549396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7pPr>
    <a:lvl8pPr marL="2974295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8pPr>
    <a:lvl9pPr marL="3399195" algn="l" defTabSz="849798" rtl="0" eaLnBrk="1" latinLnBrk="0" hangingPunct="1">
      <a:defRPr sz="11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168D4E-EA71-4E3F-809D-D58F146CB16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122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81349" y="827743"/>
            <a:ext cx="9488091" cy="1760855"/>
          </a:xfrm>
        </p:spPr>
        <p:txBody>
          <a:bodyPr anchor="b"/>
          <a:lstStyle>
            <a:lvl1pPr algn="ctr">
              <a:defRPr sz="44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81349" y="2656503"/>
            <a:ext cx="9488091" cy="1221124"/>
          </a:xfrm>
        </p:spPr>
        <p:txBody>
          <a:bodyPr/>
          <a:lstStyle>
            <a:lvl1pPr marL="0" indent="0" algn="ctr">
              <a:buNone/>
              <a:defRPr sz="1770"/>
            </a:lvl1pPr>
            <a:lvl2pPr marL="337185" indent="0" algn="ctr">
              <a:buNone/>
              <a:defRPr sz="1475"/>
            </a:lvl2pPr>
            <a:lvl3pPr marL="674370" indent="0" algn="ctr">
              <a:buNone/>
              <a:defRPr sz="1328"/>
            </a:lvl3pPr>
            <a:lvl4pPr marL="1011555" indent="0" algn="ctr">
              <a:buNone/>
              <a:defRPr sz="1180"/>
            </a:lvl4pPr>
            <a:lvl5pPr marL="1348740" indent="0" algn="ctr">
              <a:buNone/>
              <a:defRPr sz="1180"/>
            </a:lvl5pPr>
            <a:lvl6pPr marL="1685925" indent="0" algn="ctr">
              <a:buNone/>
              <a:defRPr sz="1180"/>
            </a:lvl6pPr>
            <a:lvl7pPr marL="2023110" indent="0" algn="ctr">
              <a:buNone/>
              <a:defRPr sz="1180"/>
            </a:lvl7pPr>
            <a:lvl8pPr marL="2360295" indent="0" algn="ctr">
              <a:buNone/>
              <a:defRPr sz="1180"/>
            </a:lvl8pPr>
            <a:lvl9pPr marL="2697480" indent="0" algn="ctr">
              <a:buNone/>
              <a:defRPr sz="118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6879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506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153" y="1260932"/>
            <a:ext cx="10911305" cy="2103894"/>
          </a:xfrm>
        </p:spPr>
        <p:txBody>
          <a:bodyPr anchor="b"/>
          <a:lstStyle>
            <a:lvl1pPr>
              <a:defRPr sz="44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3153" y="3384729"/>
            <a:ext cx="10911305" cy="1106388"/>
          </a:xfrm>
        </p:spPr>
        <p:txBody>
          <a:bodyPr/>
          <a:lstStyle>
            <a:lvl1pPr marL="0" indent="0">
              <a:buNone/>
              <a:defRPr sz="1770">
                <a:solidFill>
                  <a:schemeClr val="tx1">
                    <a:tint val="82000"/>
                  </a:schemeClr>
                </a:solidFill>
              </a:defRPr>
            </a:lvl1pPr>
            <a:lvl2pPr marL="337185" indent="0">
              <a:buNone/>
              <a:defRPr sz="1475">
                <a:solidFill>
                  <a:schemeClr val="tx1">
                    <a:tint val="82000"/>
                  </a:schemeClr>
                </a:solidFill>
              </a:defRPr>
            </a:lvl2pPr>
            <a:lvl3pPr marL="674370" indent="0">
              <a:buNone/>
              <a:defRPr sz="1328">
                <a:solidFill>
                  <a:schemeClr val="tx1">
                    <a:tint val="82000"/>
                  </a:schemeClr>
                </a:solidFill>
              </a:defRPr>
            </a:lvl3pPr>
            <a:lvl4pPr marL="1011555" indent="0">
              <a:buNone/>
              <a:defRPr sz="1180">
                <a:solidFill>
                  <a:schemeClr val="tx1">
                    <a:tint val="82000"/>
                  </a:schemeClr>
                </a:solidFill>
              </a:defRPr>
            </a:lvl4pPr>
            <a:lvl5pPr marL="1348740" indent="0">
              <a:buNone/>
              <a:defRPr sz="1180">
                <a:solidFill>
                  <a:schemeClr val="tx1">
                    <a:tint val="82000"/>
                  </a:schemeClr>
                </a:solidFill>
              </a:defRPr>
            </a:lvl5pPr>
            <a:lvl6pPr marL="1685925" indent="0">
              <a:buNone/>
              <a:defRPr sz="1180">
                <a:solidFill>
                  <a:schemeClr val="tx1">
                    <a:tint val="82000"/>
                  </a:schemeClr>
                </a:solidFill>
              </a:defRPr>
            </a:lvl6pPr>
            <a:lvl7pPr marL="2023110" indent="0">
              <a:buNone/>
              <a:defRPr sz="1180">
                <a:solidFill>
                  <a:schemeClr val="tx1">
                    <a:tint val="82000"/>
                  </a:schemeClr>
                </a:solidFill>
              </a:defRPr>
            </a:lvl7pPr>
            <a:lvl8pPr marL="2360295" indent="0">
              <a:buNone/>
              <a:defRPr sz="1180">
                <a:solidFill>
                  <a:schemeClr val="tx1">
                    <a:tint val="82000"/>
                  </a:schemeClr>
                </a:solidFill>
              </a:defRPr>
            </a:lvl8pPr>
            <a:lvl9pPr marL="2697480" indent="0">
              <a:buNone/>
              <a:defRPr sz="11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497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9742" y="1346398"/>
            <a:ext cx="5376585" cy="32091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4461" y="1346398"/>
            <a:ext cx="5376585" cy="32091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509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389" y="269280"/>
            <a:ext cx="10911305" cy="97760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390" y="1239858"/>
            <a:ext cx="5351876" cy="607635"/>
          </a:xfrm>
        </p:spPr>
        <p:txBody>
          <a:bodyPr anchor="b"/>
          <a:lstStyle>
            <a:lvl1pPr marL="0" indent="0">
              <a:buNone/>
              <a:defRPr sz="1770" b="1"/>
            </a:lvl1pPr>
            <a:lvl2pPr marL="337185" indent="0">
              <a:buNone/>
              <a:defRPr sz="1475" b="1"/>
            </a:lvl2pPr>
            <a:lvl3pPr marL="674370" indent="0">
              <a:buNone/>
              <a:defRPr sz="1328" b="1"/>
            </a:lvl3pPr>
            <a:lvl4pPr marL="1011555" indent="0">
              <a:buNone/>
              <a:defRPr sz="1180" b="1"/>
            </a:lvl4pPr>
            <a:lvl5pPr marL="1348740" indent="0">
              <a:buNone/>
              <a:defRPr sz="1180" b="1"/>
            </a:lvl5pPr>
            <a:lvl6pPr marL="1685925" indent="0">
              <a:buNone/>
              <a:defRPr sz="1180" b="1"/>
            </a:lvl6pPr>
            <a:lvl7pPr marL="2023110" indent="0">
              <a:buNone/>
              <a:defRPr sz="1180" b="1"/>
            </a:lvl7pPr>
            <a:lvl8pPr marL="2360295" indent="0">
              <a:buNone/>
              <a:defRPr sz="1180" b="1"/>
            </a:lvl8pPr>
            <a:lvl9pPr marL="2697480" indent="0">
              <a:buNone/>
              <a:defRPr sz="11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1390" y="1847493"/>
            <a:ext cx="5351876" cy="27173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4461" y="1239858"/>
            <a:ext cx="5378233" cy="607635"/>
          </a:xfrm>
        </p:spPr>
        <p:txBody>
          <a:bodyPr anchor="b"/>
          <a:lstStyle>
            <a:lvl1pPr marL="0" indent="0">
              <a:buNone/>
              <a:defRPr sz="1770" b="1"/>
            </a:lvl1pPr>
            <a:lvl2pPr marL="337185" indent="0">
              <a:buNone/>
              <a:defRPr sz="1475" b="1"/>
            </a:lvl2pPr>
            <a:lvl3pPr marL="674370" indent="0">
              <a:buNone/>
              <a:defRPr sz="1328" b="1"/>
            </a:lvl3pPr>
            <a:lvl4pPr marL="1011555" indent="0">
              <a:buNone/>
              <a:defRPr sz="1180" b="1"/>
            </a:lvl4pPr>
            <a:lvl5pPr marL="1348740" indent="0">
              <a:buNone/>
              <a:defRPr sz="1180" b="1"/>
            </a:lvl5pPr>
            <a:lvl6pPr marL="1685925" indent="0">
              <a:buNone/>
              <a:defRPr sz="1180" b="1"/>
            </a:lvl6pPr>
            <a:lvl7pPr marL="2023110" indent="0">
              <a:buNone/>
              <a:defRPr sz="1180" b="1"/>
            </a:lvl7pPr>
            <a:lvl8pPr marL="2360295" indent="0">
              <a:buNone/>
              <a:defRPr sz="1180" b="1"/>
            </a:lvl8pPr>
            <a:lvl9pPr marL="2697480" indent="0">
              <a:buNone/>
              <a:defRPr sz="11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4461" y="1847493"/>
            <a:ext cx="5378233" cy="27173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0879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8470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136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390" y="337185"/>
            <a:ext cx="4080208" cy="1180148"/>
          </a:xfrm>
        </p:spPr>
        <p:txBody>
          <a:bodyPr anchor="b"/>
          <a:lstStyle>
            <a:lvl1pPr>
              <a:defRPr sz="23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78233" y="728227"/>
            <a:ext cx="6404461" cy="3594298"/>
          </a:xfrm>
        </p:spPr>
        <p:txBody>
          <a:bodyPr/>
          <a:lstStyle>
            <a:lvl1pPr>
              <a:defRPr sz="2360"/>
            </a:lvl1pPr>
            <a:lvl2pPr>
              <a:defRPr sz="2065"/>
            </a:lvl2pPr>
            <a:lvl3pPr>
              <a:defRPr sz="1770"/>
            </a:lvl3pPr>
            <a:lvl4pPr>
              <a:defRPr sz="1475"/>
            </a:lvl4pPr>
            <a:lvl5pPr>
              <a:defRPr sz="1475"/>
            </a:lvl5pPr>
            <a:lvl6pPr>
              <a:defRPr sz="1475"/>
            </a:lvl6pPr>
            <a:lvl7pPr>
              <a:defRPr sz="1475"/>
            </a:lvl7pPr>
            <a:lvl8pPr>
              <a:defRPr sz="1475"/>
            </a:lvl8pPr>
            <a:lvl9pPr>
              <a:defRPr sz="147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71390" y="1517333"/>
            <a:ext cx="4080208" cy="2811046"/>
          </a:xfrm>
        </p:spPr>
        <p:txBody>
          <a:bodyPr/>
          <a:lstStyle>
            <a:lvl1pPr marL="0" indent="0">
              <a:buNone/>
              <a:defRPr sz="1180"/>
            </a:lvl1pPr>
            <a:lvl2pPr marL="337185" indent="0">
              <a:buNone/>
              <a:defRPr sz="1033"/>
            </a:lvl2pPr>
            <a:lvl3pPr marL="674370" indent="0">
              <a:buNone/>
              <a:defRPr sz="885"/>
            </a:lvl3pPr>
            <a:lvl4pPr marL="1011555" indent="0">
              <a:buNone/>
              <a:defRPr sz="738"/>
            </a:lvl4pPr>
            <a:lvl5pPr marL="1348740" indent="0">
              <a:buNone/>
              <a:defRPr sz="738"/>
            </a:lvl5pPr>
            <a:lvl6pPr marL="1685925" indent="0">
              <a:buNone/>
              <a:defRPr sz="738"/>
            </a:lvl6pPr>
            <a:lvl7pPr marL="2023110" indent="0">
              <a:buNone/>
              <a:defRPr sz="738"/>
            </a:lvl7pPr>
            <a:lvl8pPr marL="2360295" indent="0">
              <a:buNone/>
              <a:defRPr sz="738"/>
            </a:lvl8pPr>
            <a:lvl9pPr marL="2697480" indent="0">
              <a:buNone/>
              <a:defRPr sz="73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2305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390" y="337185"/>
            <a:ext cx="4080208" cy="1180148"/>
          </a:xfrm>
        </p:spPr>
        <p:txBody>
          <a:bodyPr anchor="b"/>
          <a:lstStyle>
            <a:lvl1pPr>
              <a:defRPr sz="23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78233" y="728227"/>
            <a:ext cx="6404461" cy="3594298"/>
          </a:xfrm>
        </p:spPr>
        <p:txBody>
          <a:bodyPr anchor="t"/>
          <a:lstStyle>
            <a:lvl1pPr marL="0" indent="0">
              <a:buNone/>
              <a:defRPr sz="2360"/>
            </a:lvl1pPr>
            <a:lvl2pPr marL="337185" indent="0">
              <a:buNone/>
              <a:defRPr sz="2065"/>
            </a:lvl2pPr>
            <a:lvl3pPr marL="674370" indent="0">
              <a:buNone/>
              <a:defRPr sz="1770"/>
            </a:lvl3pPr>
            <a:lvl4pPr marL="1011555" indent="0">
              <a:buNone/>
              <a:defRPr sz="1475"/>
            </a:lvl4pPr>
            <a:lvl5pPr marL="1348740" indent="0">
              <a:buNone/>
              <a:defRPr sz="1475"/>
            </a:lvl5pPr>
            <a:lvl6pPr marL="1685925" indent="0">
              <a:buNone/>
              <a:defRPr sz="1475"/>
            </a:lvl6pPr>
            <a:lvl7pPr marL="2023110" indent="0">
              <a:buNone/>
              <a:defRPr sz="1475"/>
            </a:lvl7pPr>
            <a:lvl8pPr marL="2360295" indent="0">
              <a:buNone/>
              <a:defRPr sz="1475"/>
            </a:lvl8pPr>
            <a:lvl9pPr marL="2697480" indent="0">
              <a:buNone/>
              <a:defRPr sz="147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71390" y="1517333"/>
            <a:ext cx="4080208" cy="2811046"/>
          </a:xfrm>
        </p:spPr>
        <p:txBody>
          <a:bodyPr/>
          <a:lstStyle>
            <a:lvl1pPr marL="0" indent="0">
              <a:buNone/>
              <a:defRPr sz="1180"/>
            </a:lvl1pPr>
            <a:lvl2pPr marL="337185" indent="0">
              <a:buNone/>
              <a:defRPr sz="1033"/>
            </a:lvl2pPr>
            <a:lvl3pPr marL="674370" indent="0">
              <a:buNone/>
              <a:defRPr sz="885"/>
            </a:lvl3pPr>
            <a:lvl4pPr marL="1011555" indent="0">
              <a:buNone/>
              <a:defRPr sz="738"/>
            </a:lvl4pPr>
            <a:lvl5pPr marL="1348740" indent="0">
              <a:buNone/>
              <a:defRPr sz="738"/>
            </a:lvl5pPr>
            <a:lvl6pPr marL="1685925" indent="0">
              <a:buNone/>
              <a:defRPr sz="738"/>
            </a:lvl6pPr>
            <a:lvl7pPr marL="2023110" indent="0">
              <a:buNone/>
              <a:defRPr sz="738"/>
            </a:lvl7pPr>
            <a:lvl8pPr marL="2360295" indent="0">
              <a:buNone/>
              <a:defRPr sz="738"/>
            </a:lvl8pPr>
            <a:lvl9pPr marL="2697480" indent="0">
              <a:buNone/>
              <a:defRPr sz="73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3504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638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53220" y="269279"/>
            <a:ext cx="2727826" cy="428623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9741" y="269279"/>
            <a:ext cx="8025344" cy="428623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3094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9742" y="269280"/>
            <a:ext cx="10911305" cy="977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742" y="1346398"/>
            <a:ext cx="10911305" cy="32091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9742" y="4687808"/>
            <a:ext cx="2846427" cy="269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D492CC-1D2C-4150-A000-68DB5D3064A7}" type="datetimeFigureOut">
              <a:rPr lang="en-GB" smtClean="0"/>
              <a:t>29/03/2026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0574" y="4687808"/>
            <a:ext cx="4269641" cy="269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934619" y="4687808"/>
            <a:ext cx="2846427" cy="269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EA61B8-8EB8-40D2-A69B-DEA8B1B89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799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74370" rtl="0" eaLnBrk="1" latinLnBrk="0" hangingPunct="1">
        <a:lnSpc>
          <a:spcPct val="90000"/>
        </a:lnSpc>
        <a:spcBef>
          <a:spcPct val="0"/>
        </a:spcBef>
        <a:buNone/>
        <a:defRPr sz="32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593" indent="-168593" algn="l" defTabSz="67437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065" kern="1200">
          <a:solidFill>
            <a:schemeClr val="tx1"/>
          </a:solidFill>
          <a:latin typeface="+mn-lt"/>
          <a:ea typeface="+mn-ea"/>
          <a:cs typeface="+mn-cs"/>
        </a:defRPr>
      </a:lvl1pPr>
      <a:lvl2pPr marL="505778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770" kern="1200">
          <a:solidFill>
            <a:schemeClr val="tx1"/>
          </a:solidFill>
          <a:latin typeface="+mn-lt"/>
          <a:ea typeface="+mn-ea"/>
          <a:cs typeface="+mn-cs"/>
        </a:defRPr>
      </a:lvl2pPr>
      <a:lvl3pPr marL="842963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3pPr>
      <a:lvl4pPr marL="1180148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8" kern="1200">
          <a:solidFill>
            <a:schemeClr val="tx1"/>
          </a:solidFill>
          <a:latin typeface="+mn-lt"/>
          <a:ea typeface="+mn-ea"/>
          <a:cs typeface="+mn-cs"/>
        </a:defRPr>
      </a:lvl4pPr>
      <a:lvl5pPr marL="1517333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8" kern="1200">
          <a:solidFill>
            <a:schemeClr val="tx1"/>
          </a:solidFill>
          <a:latin typeface="+mn-lt"/>
          <a:ea typeface="+mn-ea"/>
          <a:cs typeface="+mn-cs"/>
        </a:defRPr>
      </a:lvl5pPr>
      <a:lvl6pPr marL="1854518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8" kern="1200">
          <a:solidFill>
            <a:schemeClr val="tx1"/>
          </a:solidFill>
          <a:latin typeface="+mn-lt"/>
          <a:ea typeface="+mn-ea"/>
          <a:cs typeface="+mn-cs"/>
        </a:defRPr>
      </a:lvl6pPr>
      <a:lvl7pPr marL="2191703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8" kern="1200">
          <a:solidFill>
            <a:schemeClr val="tx1"/>
          </a:solidFill>
          <a:latin typeface="+mn-lt"/>
          <a:ea typeface="+mn-ea"/>
          <a:cs typeface="+mn-cs"/>
        </a:defRPr>
      </a:lvl7pPr>
      <a:lvl8pPr marL="2528888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8" kern="1200">
          <a:solidFill>
            <a:schemeClr val="tx1"/>
          </a:solidFill>
          <a:latin typeface="+mn-lt"/>
          <a:ea typeface="+mn-ea"/>
          <a:cs typeface="+mn-cs"/>
        </a:defRPr>
      </a:lvl8pPr>
      <a:lvl9pPr marL="2866073" indent="-168593" algn="l" defTabSz="674370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1pPr>
      <a:lvl2pPr marL="337185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2pPr>
      <a:lvl3pPr marL="674370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3pPr>
      <a:lvl4pPr marL="1011555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4pPr>
      <a:lvl5pPr marL="1348740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5pPr>
      <a:lvl6pPr marL="1685925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6pPr>
      <a:lvl7pPr marL="2023110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7pPr>
      <a:lvl8pPr marL="2360295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8pPr>
      <a:lvl9pPr marL="2697480" algn="l" defTabSz="674370" rtl="0" eaLnBrk="1" latinLnBrk="0" hangingPunct="1">
        <a:defRPr sz="13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D1D96B50-725C-81EF-8F61-959E3E492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299" y="376812"/>
            <a:ext cx="4849158" cy="484915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23E2B5A-7B95-5ED9-D878-13B4FEEB17C2}"/>
              </a:ext>
            </a:extLst>
          </p:cNvPr>
          <p:cNvSpPr/>
          <p:nvPr/>
        </p:nvSpPr>
        <p:spPr>
          <a:xfrm>
            <a:off x="641261" y="0"/>
            <a:ext cx="11364589" cy="631767"/>
          </a:xfrm>
          <a:prstGeom prst="rect">
            <a:avLst/>
          </a:prstGeom>
          <a:solidFill>
            <a:srgbClr val="1353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Mega-analysis of the Interoceptive Accuracy Scale (IAS)</a:t>
            </a:r>
            <a:br>
              <a:rPr lang="en-GB" sz="2400" b="1" dirty="0"/>
            </a:br>
            <a:r>
              <a:rPr lang="en-GB" sz="2400" b="1" dirty="0"/>
              <a:t> Structure and its Dispositional Correlates</a:t>
            </a:r>
          </a:p>
        </p:txBody>
      </p:sp>
      <p:pic>
        <p:nvPicPr>
          <p:cNvPr id="10" name="Picture 14" descr="University of Sussex - Wikipedia">
            <a:extLst>
              <a:ext uri="{FF2B5EF4-FFF2-40B4-BE49-F238E27FC236}">
                <a16:creationId xmlns:a16="http://schemas.microsoft.com/office/drawing/2014/main" id="{9F941BD2-ACDF-8465-4708-FB47AAAD0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4" y="0"/>
            <a:ext cx="631767" cy="631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logo of a book&#10;&#10;AI-generated content may be incorrect.">
            <a:extLst>
              <a:ext uri="{FF2B5EF4-FFF2-40B4-BE49-F238E27FC236}">
                <a16:creationId xmlns:a16="http://schemas.microsoft.com/office/drawing/2014/main" id="{619A018B-70FF-CD8D-C2C2-C0906C5685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5850" y="2616"/>
            <a:ext cx="635444" cy="63544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9759511-5A4D-ADB6-8F80-206793F2AF5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88" y="780704"/>
            <a:ext cx="4430272" cy="4176226"/>
          </a:xfrm>
          <a:prstGeom prst="rect">
            <a:avLst/>
          </a:prstGeom>
        </p:spPr>
      </p:pic>
      <p:sp>
        <p:nvSpPr>
          <p:cNvPr id="36" name="AutoShape 4" descr="Inside The Human Body PNG Transparent Images Free Download | Vector Files |  Pngtree">
            <a:extLst>
              <a:ext uri="{FF2B5EF4-FFF2-40B4-BE49-F238E27FC236}">
                <a16:creationId xmlns:a16="http://schemas.microsoft.com/office/drawing/2014/main" id="{0FCBC10C-6F31-D5C9-BF75-EAC7891E4A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72200" y="2376488"/>
            <a:ext cx="3048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grpSp>
        <p:nvGrpSpPr>
          <p:cNvPr id="1048" name="Group 1047">
            <a:extLst>
              <a:ext uri="{FF2B5EF4-FFF2-40B4-BE49-F238E27FC236}">
                <a16:creationId xmlns:a16="http://schemas.microsoft.com/office/drawing/2014/main" id="{E68F8F71-D7ED-90DE-C081-96290EE8E7F5}"/>
              </a:ext>
            </a:extLst>
          </p:cNvPr>
          <p:cNvGrpSpPr/>
          <p:nvPr/>
        </p:nvGrpSpPr>
        <p:grpSpPr>
          <a:xfrm>
            <a:off x="10768425" y="780704"/>
            <a:ext cx="1210086" cy="3624292"/>
            <a:chOff x="7741446" y="1815385"/>
            <a:chExt cx="1676188" cy="2991785"/>
          </a:xfrm>
          <a:solidFill>
            <a:srgbClr val="135390"/>
          </a:solidFill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4B0EDBB8-8F07-38B0-7889-C38C7B540896}"/>
                </a:ext>
              </a:extLst>
            </p:cNvPr>
            <p:cNvSpPr/>
            <p:nvPr/>
          </p:nvSpPr>
          <p:spPr>
            <a:xfrm>
              <a:off x="7741446" y="2728370"/>
              <a:ext cx="1667016" cy="265432"/>
            </a:xfrm>
            <a:prstGeom prst="roundRect">
              <a:avLst/>
            </a:prstGeom>
            <a:solidFill>
              <a:srgbClr val="6D42B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b="1" dirty="0"/>
                <a:t>Bruise /  Blood Sugar</a:t>
              </a:r>
            </a:p>
          </p:txBody>
        </p:sp>
        <p:sp>
          <p:nvSpPr>
            <p:cNvPr id="1033" name="Rectangle: Rounded Corners 1032">
              <a:extLst>
                <a:ext uri="{FF2B5EF4-FFF2-40B4-BE49-F238E27FC236}">
                  <a16:creationId xmlns:a16="http://schemas.microsoft.com/office/drawing/2014/main" id="{C09FBE4A-40B8-208E-B481-7A0DCFEF46C7}"/>
                </a:ext>
              </a:extLst>
            </p:cNvPr>
            <p:cNvSpPr/>
            <p:nvPr/>
          </p:nvSpPr>
          <p:spPr>
            <a:xfrm>
              <a:off x="7741446" y="4541738"/>
              <a:ext cx="1667016" cy="265432"/>
            </a:xfrm>
            <a:prstGeom prst="roundRect">
              <a:avLst/>
            </a:prstGeom>
            <a:solidFill>
              <a:srgbClr val="08988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b="1" dirty="0"/>
                <a:t>Muscles  /  Pain</a:t>
              </a:r>
            </a:p>
          </p:txBody>
        </p:sp>
        <p:sp>
          <p:nvSpPr>
            <p:cNvPr id="1036" name="Rectangle: Rounded Corners 1035">
              <a:extLst>
                <a:ext uri="{FF2B5EF4-FFF2-40B4-BE49-F238E27FC236}">
                  <a16:creationId xmlns:a16="http://schemas.microsoft.com/office/drawing/2014/main" id="{FFB73D8C-EDC2-0A21-3C0A-5156D82BBA1E}"/>
                </a:ext>
              </a:extLst>
            </p:cNvPr>
            <p:cNvSpPr/>
            <p:nvPr/>
          </p:nvSpPr>
          <p:spPr>
            <a:xfrm>
              <a:off x="7750618" y="3635054"/>
              <a:ext cx="1667016" cy="265432"/>
            </a:xfrm>
            <a:prstGeom prst="roundRect">
              <a:avLst/>
            </a:prstGeom>
            <a:solidFill>
              <a:srgbClr val="86BB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b="1" dirty="0"/>
                <a:t>Wind  /  Burp</a:t>
              </a:r>
            </a:p>
          </p:txBody>
        </p:sp>
        <p:sp>
          <p:nvSpPr>
            <p:cNvPr id="1039" name="Rectangle: Rounded Corners 1038">
              <a:extLst>
                <a:ext uri="{FF2B5EF4-FFF2-40B4-BE49-F238E27FC236}">
                  <a16:creationId xmlns:a16="http://schemas.microsoft.com/office/drawing/2014/main" id="{D0DD5B0C-C931-9EFF-894E-66E15F6B69F7}"/>
                </a:ext>
              </a:extLst>
            </p:cNvPr>
            <p:cNvSpPr/>
            <p:nvPr/>
          </p:nvSpPr>
          <p:spPr>
            <a:xfrm>
              <a:off x="7750618" y="1815385"/>
              <a:ext cx="1667016" cy="265432"/>
            </a:xfrm>
            <a:prstGeom prst="roundRect">
              <a:avLst/>
            </a:prstGeom>
            <a:solidFill>
              <a:srgbClr val="2C9B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b="1" dirty="0"/>
                <a:t>Cough /  Sneeze</a:t>
              </a:r>
            </a:p>
          </p:txBody>
        </p:sp>
        <p:sp>
          <p:nvSpPr>
            <p:cNvPr id="1042" name="Rectangle: Rounded Corners 1041">
              <a:extLst>
                <a:ext uri="{FF2B5EF4-FFF2-40B4-BE49-F238E27FC236}">
                  <a16:creationId xmlns:a16="http://schemas.microsoft.com/office/drawing/2014/main" id="{A7F7FC90-990E-68A4-3320-684D86473A32}"/>
                </a:ext>
              </a:extLst>
            </p:cNvPr>
            <p:cNvSpPr/>
            <p:nvPr/>
          </p:nvSpPr>
          <p:spPr>
            <a:xfrm>
              <a:off x="7750618" y="2270827"/>
              <a:ext cx="1667016" cy="265432"/>
            </a:xfrm>
            <a:prstGeom prst="roundRect">
              <a:avLst/>
            </a:prstGeom>
            <a:solidFill>
              <a:srgbClr val="F54D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b="1" dirty="0"/>
                <a:t>Breathing  /  Heart</a:t>
              </a:r>
            </a:p>
          </p:txBody>
        </p:sp>
        <p:sp>
          <p:nvSpPr>
            <p:cNvPr id="1045" name="Rectangle: Rounded Corners 1044">
              <a:extLst>
                <a:ext uri="{FF2B5EF4-FFF2-40B4-BE49-F238E27FC236}">
                  <a16:creationId xmlns:a16="http://schemas.microsoft.com/office/drawing/2014/main" id="{9E42A7BC-0682-C782-3821-51FD8612A238}"/>
                </a:ext>
              </a:extLst>
            </p:cNvPr>
            <p:cNvSpPr/>
            <p:nvPr/>
          </p:nvSpPr>
          <p:spPr>
            <a:xfrm>
              <a:off x="7741446" y="4088396"/>
              <a:ext cx="1667016" cy="265432"/>
            </a:xfrm>
            <a:prstGeom prst="roundRect">
              <a:avLst/>
            </a:prstGeom>
            <a:solidFill>
              <a:srgbClr val="805E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b="1" dirty="0"/>
                <a:t>Urinate  /  Defecate</a:t>
              </a:r>
            </a:p>
          </p:txBody>
        </p:sp>
        <p:sp>
          <p:nvSpPr>
            <p:cNvPr id="1047" name="Rectangle: Rounded Corners 1046">
              <a:extLst>
                <a:ext uri="{FF2B5EF4-FFF2-40B4-BE49-F238E27FC236}">
                  <a16:creationId xmlns:a16="http://schemas.microsoft.com/office/drawing/2014/main" id="{41DDB789-7AB4-2F05-C485-5F8D09C18720}"/>
                </a:ext>
              </a:extLst>
            </p:cNvPr>
            <p:cNvSpPr/>
            <p:nvPr/>
          </p:nvSpPr>
          <p:spPr>
            <a:xfrm>
              <a:off x="7750618" y="3181712"/>
              <a:ext cx="1667016" cy="265432"/>
            </a:xfrm>
            <a:prstGeom prst="roundRect">
              <a:avLst/>
            </a:prstGeom>
            <a:solidFill>
              <a:srgbClr val="F593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b="1" dirty="0"/>
                <a:t>Hungry  / Thirsty </a:t>
              </a:r>
            </a:p>
          </p:txBody>
        </p:sp>
      </p:grpSp>
      <p:graphicFrame>
        <p:nvGraphicFramePr>
          <p:cNvPr id="1055" name="Table 1054">
            <a:extLst>
              <a:ext uri="{FF2B5EF4-FFF2-40B4-BE49-F238E27FC236}">
                <a16:creationId xmlns:a16="http://schemas.microsoft.com/office/drawing/2014/main" id="{7D4AFA63-F5B9-5274-01C7-17BF662C2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495118"/>
              </p:ext>
            </p:extLst>
          </p:nvPr>
        </p:nvGraphicFramePr>
        <p:xfrm>
          <a:off x="10477500" y="1145432"/>
          <a:ext cx="1905000" cy="2562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108484493"/>
                    </a:ext>
                  </a:extLst>
                </a:gridCol>
              </a:tblGrid>
              <a:tr h="259451">
                <a:tc>
                  <a:txBody>
                    <a:bodyPr/>
                    <a:lstStyle/>
                    <a:p>
                      <a:pPr marL="0" marR="0" lvl="0" indent="0" algn="ctr" defTabSz="6743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Interoception</a:t>
                      </a:r>
                    </a:p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837558"/>
                  </a:ext>
                </a:extLst>
              </a:tr>
              <a:tr h="398262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Interoception Deficits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61228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6743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Mood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684721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6743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Psychopathological &amp; Neurodevelopmental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919886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marR="0" lvl="0" indent="0" algn="ctr" defTabSz="6743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Personality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1741846"/>
                  </a:ext>
                </a:extLst>
              </a:tr>
              <a:tr h="397626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Beliefs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47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8743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A5E1-CEB4-36DA-2F9A-4DA8E94B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FEBF6-535F-D9C5-3B9B-239EE034D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55EEFA-692A-48AE-8E78-6BEE6798DD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771144"/>
              </p:ext>
            </p:extLst>
          </p:nvPr>
        </p:nvGraphicFramePr>
        <p:xfrm>
          <a:off x="4538824" y="758765"/>
          <a:ext cx="8034724" cy="4217016"/>
        </p:xfrm>
        <a:graphic>
          <a:graphicData uri="http://schemas.openxmlformats.org/drawingml/2006/table">
            <a:tbl>
              <a:tblPr firstRow="1" bandRow="1">
                <a:solidFill>
                  <a:srgbClr val="FDC12C"/>
                </a:solidFill>
                <a:tableStyleId>{0660B408-B3CF-4A94-85FC-2B1E0A45F4A2}</a:tableStyleId>
              </a:tblPr>
              <a:tblGrid>
                <a:gridCol w="1193109">
                  <a:extLst>
                    <a:ext uri="{9D8B030D-6E8A-4147-A177-3AD203B41FA5}">
                      <a16:colId xmlns:a16="http://schemas.microsoft.com/office/drawing/2014/main" val="336558686"/>
                    </a:ext>
                  </a:extLst>
                </a:gridCol>
                <a:gridCol w="770467">
                  <a:extLst>
                    <a:ext uri="{9D8B030D-6E8A-4147-A177-3AD203B41FA5}">
                      <a16:colId xmlns:a16="http://schemas.microsoft.com/office/drawing/2014/main" val="87462403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330369281"/>
                    </a:ext>
                  </a:extLst>
                </a:gridCol>
                <a:gridCol w="821267">
                  <a:extLst>
                    <a:ext uri="{9D8B030D-6E8A-4147-A177-3AD203B41FA5}">
                      <a16:colId xmlns:a16="http://schemas.microsoft.com/office/drawing/2014/main" val="3361161445"/>
                    </a:ext>
                  </a:extLst>
                </a:gridCol>
                <a:gridCol w="905933">
                  <a:extLst>
                    <a:ext uri="{9D8B030D-6E8A-4147-A177-3AD203B41FA5}">
                      <a16:colId xmlns:a16="http://schemas.microsoft.com/office/drawing/2014/main" val="2092543606"/>
                    </a:ext>
                  </a:extLst>
                </a:gridCol>
                <a:gridCol w="804333">
                  <a:extLst>
                    <a:ext uri="{9D8B030D-6E8A-4147-A177-3AD203B41FA5}">
                      <a16:colId xmlns:a16="http://schemas.microsoft.com/office/drawing/2014/main" val="4153363461"/>
                    </a:ext>
                  </a:extLst>
                </a:gridCol>
                <a:gridCol w="760568">
                  <a:extLst>
                    <a:ext uri="{9D8B030D-6E8A-4147-A177-3AD203B41FA5}">
                      <a16:colId xmlns:a16="http://schemas.microsoft.com/office/drawing/2014/main" val="3512009914"/>
                    </a:ext>
                  </a:extLst>
                </a:gridCol>
                <a:gridCol w="1013408">
                  <a:extLst>
                    <a:ext uri="{9D8B030D-6E8A-4147-A177-3AD203B41FA5}">
                      <a16:colId xmlns:a16="http://schemas.microsoft.com/office/drawing/2014/main" val="4174354321"/>
                    </a:ext>
                  </a:extLst>
                </a:gridCol>
                <a:gridCol w="902039">
                  <a:extLst>
                    <a:ext uri="{9D8B030D-6E8A-4147-A177-3AD203B41FA5}">
                      <a16:colId xmlns:a16="http://schemas.microsoft.com/office/drawing/2014/main" val="1944476327"/>
                    </a:ext>
                  </a:extLst>
                </a:gridCol>
              </a:tblGrid>
              <a:tr h="515758"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ORIGNAL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HINGRY / TRURSTY 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BRUISE /</a:t>
                      </a:r>
                    </a:p>
                    <a:p>
                      <a:pPr algn="ctr"/>
                      <a:r>
                        <a:rPr lang="en-GB" sz="1000" dirty="0"/>
                        <a:t>BLOOD SUGAR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MUSCLES / </a:t>
                      </a:r>
                    </a:p>
                    <a:p>
                      <a:pPr algn="ctr"/>
                      <a:r>
                        <a:rPr lang="en-GB" sz="1000" dirty="0"/>
                        <a:t>PAIN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COUGH / SNEEZE 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WIND / </a:t>
                      </a:r>
                    </a:p>
                    <a:p>
                      <a:pPr algn="ctr"/>
                      <a:r>
                        <a:rPr lang="en-GB" sz="1000" dirty="0"/>
                        <a:t>BURP 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BREATHING / HEART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URINATE / DEFECATE 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6208202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Interoception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590248665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Interoceptive Deficits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61938275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Depression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305250792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Anxiety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8345535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Psychopathological Traits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70895253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Neurodevelopmental Traits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733546170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Personality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63233870"/>
                  </a:ext>
                </a:extLst>
              </a:tr>
              <a:tr h="458547">
                <a:tc>
                  <a:txBody>
                    <a:bodyPr/>
                    <a:lstStyle/>
                    <a:p>
                      <a:pPr algn="ctr"/>
                      <a:r>
                        <a:rPr lang="en-GB" sz="800" dirty="0"/>
                        <a:t>Beliefs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BC0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32387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5355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1280</TotalTime>
  <Words>82</Words>
  <Application>Microsoft Office PowerPoint</Application>
  <PresentationFormat>Custom</PresentationFormat>
  <Paragraphs>34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Neves</dc:creator>
  <cp:lastModifiedBy>Ana Neves</cp:lastModifiedBy>
  <cp:revision>1</cp:revision>
  <dcterms:created xsi:type="dcterms:W3CDTF">2026-03-29T13:31:02Z</dcterms:created>
  <dcterms:modified xsi:type="dcterms:W3CDTF">2026-03-30T10:51:53Z</dcterms:modified>
</cp:coreProperties>
</file>