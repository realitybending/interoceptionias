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8991600" cy="5057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303"/>
    <a:srgbClr val="135390"/>
    <a:srgbClr val="FFFFFF"/>
    <a:srgbClr val="C62828"/>
    <a:srgbClr val="86BB48"/>
    <a:srgbClr val="F54D40"/>
    <a:srgbClr val="2C9BF4"/>
    <a:srgbClr val="6D42B9"/>
    <a:srgbClr val="805E51"/>
    <a:srgbClr val="0898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30" autoAdjust="0"/>
    <p:restoredTop sz="94660"/>
  </p:normalViewPr>
  <p:slideViewPr>
    <p:cSldViewPr snapToGrid="0">
      <p:cViewPr>
        <p:scale>
          <a:sx n="130" d="100"/>
          <a:sy n="130" d="100"/>
        </p:scale>
        <p:origin x="159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0FB2BC-1632-497D-B21C-762440F48392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68D4E-EA71-4E3F-809D-D58F146CB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39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49798" rtl="0" eaLnBrk="1" latinLnBrk="0" hangingPunct="1">
      <a:defRPr sz="1115" kern="1200">
        <a:solidFill>
          <a:schemeClr val="tx1"/>
        </a:solidFill>
        <a:latin typeface="+mn-lt"/>
        <a:ea typeface="+mn-ea"/>
        <a:cs typeface="+mn-cs"/>
      </a:defRPr>
    </a:lvl1pPr>
    <a:lvl2pPr marL="424900" algn="l" defTabSz="849798" rtl="0" eaLnBrk="1" latinLnBrk="0" hangingPunct="1">
      <a:defRPr sz="1115" kern="1200">
        <a:solidFill>
          <a:schemeClr val="tx1"/>
        </a:solidFill>
        <a:latin typeface="+mn-lt"/>
        <a:ea typeface="+mn-ea"/>
        <a:cs typeface="+mn-cs"/>
      </a:defRPr>
    </a:lvl2pPr>
    <a:lvl3pPr marL="849798" algn="l" defTabSz="849798" rtl="0" eaLnBrk="1" latinLnBrk="0" hangingPunct="1">
      <a:defRPr sz="1115" kern="1200">
        <a:solidFill>
          <a:schemeClr val="tx1"/>
        </a:solidFill>
        <a:latin typeface="+mn-lt"/>
        <a:ea typeface="+mn-ea"/>
        <a:cs typeface="+mn-cs"/>
      </a:defRPr>
    </a:lvl3pPr>
    <a:lvl4pPr marL="1274698" algn="l" defTabSz="849798" rtl="0" eaLnBrk="1" latinLnBrk="0" hangingPunct="1">
      <a:defRPr sz="1115" kern="1200">
        <a:solidFill>
          <a:schemeClr val="tx1"/>
        </a:solidFill>
        <a:latin typeface="+mn-lt"/>
        <a:ea typeface="+mn-ea"/>
        <a:cs typeface="+mn-cs"/>
      </a:defRPr>
    </a:lvl4pPr>
    <a:lvl5pPr marL="1699598" algn="l" defTabSz="849798" rtl="0" eaLnBrk="1" latinLnBrk="0" hangingPunct="1">
      <a:defRPr sz="1115" kern="1200">
        <a:solidFill>
          <a:schemeClr val="tx1"/>
        </a:solidFill>
        <a:latin typeface="+mn-lt"/>
        <a:ea typeface="+mn-ea"/>
        <a:cs typeface="+mn-cs"/>
      </a:defRPr>
    </a:lvl5pPr>
    <a:lvl6pPr marL="2124499" algn="l" defTabSz="849798" rtl="0" eaLnBrk="1" latinLnBrk="0" hangingPunct="1">
      <a:defRPr sz="1115" kern="1200">
        <a:solidFill>
          <a:schemeClr val="tx1"/>
        </a:solidFill>
        <a:latin typeface="+mn-lt"/>
        <a:ea typeface="+mn-ea"/>
        <a:cs typeface="+mn-cs"/>
      </a:defRPr>
    </a:lvl6pPr>
    <a:lvl7pPr marL="2549396" algn="l" defTabSz="849798" rtl="0" eaLnBrk="1" latinLnBrk="0" hangingPunct="1">
      <a:defRPr sz="1115" kern="1200">
        <a:solidFill>
          <a:schemeClr val="tx1"/>
        </a:solidFill>
        <a:latin typeface="+mn-lt"/>
        <a:ea typeface="+mn-ea"/>
        <a:cs typeface="+mn-cs"/>
      </a:defRPr>
    </a:lvl7pPr>
    <a:lvl8pPr marL="2974295" algn="l" defTabSz="849798" rtl="0" eaLnBrk="1" latinLnBrk="0" hangingPunct="1">
      <a:defRPr sz="1115" kern="1200">
        <a:solidFill>
          <a:schemeClr val="tx1"/>
        </a:solidFill>
        <a:latin typeface="+mn-lt"/>
        <a:ea typeface="+mn-ea"/>
        <a:cs typeface="+mn-cs"/>
      </a:defRPr>
    </a:lvl8pPr>
    <a:lvl9pPr marL="3399195" algn="l" defTabSz="849798" rtl="0" eaLnBrk="1" latinLnBrk="0" hangingPunct="1">
      <a:defRPr sz="11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68D4E-EA71-4E3F-809D-D58F146CB16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122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3950" y="827743"/>
            <a:ext cx="6743700" cy="1760855"/>
          </a:xfrm>
        </p:spPr>
        <p:txBody>
          <a:bodyPr anchor="b"/>
          <a:lstStyle>
            <a:lvl1pPr algn="ctr">
              <a:defRPr sz="44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3950" y="2656503"/>
            <a:ext cx="6743700" cy="1221124"/>
          </a:xfrm>
        </p:spPr>
        <p:txBody>
          <a:bodyPr/>
          <a:lstStyle>
            <a:lvl1pPr marL="0" indent="0" algn="ctr">
              <a:buNone/>
              <a:defRPr sz="1770"/>
            </a:lvl1pPr>
            <a:lvl2pPr marL="337185" indent="0" algn="ctr">
              <a:buNone/>
              <a:defRPr sz="1475"/>
            </a:lvl2pPr>
            <a:lvl3pPr marL="674370" indent="0" algn="ctr">
              <a:buNone/>
              <a:defRPr sz="1328"/>
            </a:lvl3pPr>
            <a:lvl4pPr marL="1011555" indent="0" algn="ctr">
              <a:buNone/>
              <a:defRPr sz="1180"/>
            </a:lvl4pPr>
            <a:lvl5pPr marL="1348740" indent="0" algn="ctr">
              <a:buNone/>
              <a:defRPr sz="1180"/>
            </a:lvl5pPr>
            <a:lvl6pPr marL="1685925" indent="0" algn="ctr">
              <a:buNone/>
              <a:defRPr sz="1180"/>
            </a:lvl6pPr>
            <a:lvl7pPr marL="2023110" indent="0" algn="ctr">
              <a:buNone/>
              <a:defRPr sz="1180"/>
            </a:lvl7pPr>
            <a:lvl8pPr marL="2360295" indent="0" algn="ctr">
              <a:buNone/>
              <a:defRPr sz="1180"/>
            </a:lvl8pPr>
            <a:lvl9pPr marL="2697480" indent="0" algn="ctr">
              <a:buNone/>
              <a:defRPr sz="118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187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121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489" y="1260932"/>
            <a:ext cx="7755255" cy="2103894"/>
          </a:xfrm>
        </p:spPr>
        <p:txBody>
          <a:bodyPr anchor="b"/>
          <a:lstStyle>
            <a:lvl1pPr>
              <a:defRPr sz="44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489" y="3384729"/>
            <a:ext cx="7755255" cy="1106388"/>
          </a:xfrm>
        </p:spPr>
        <p:txBody>
          <a:bodyPr/>
          <a:lstStyle>
            <a:lvl1pPr marL="0" indent="0">
              <a:buNone/>
              <a:defRPr sz="1770">
                <a:solidFill>
                  <a:schemeClr val="tx1">
                    <a:tint val="82000"/>
                  </a:schemeClr>
                </a:solidFill>
              </a:defRPr>
            </a:lvl1pPr>
            <a:lvl2pPr marL="337185" indent="0">
              <a:buNone/>
              <a:defRPr sz="1475">
                <a:solidFill>
                  <a:schemeClr val="tx1">
                    <a:tint val="82000"/>
                  </a:schemeClr>
                </a:solidFill>
              </a:defRPr>
            </a:lvl2pPr>
            <a:lvl3pPr marL="674370" indent="0">
              <a:buNone/>
              <a:defRPr sz="1328">
                <a:solidFill>
                  <a:schemeClr val="tx1">
                    <a:tint val="82000"/>
                  </a:schemeClr>
                </a:solidFill>
              </a:defRPr>
            </a:lvl3pPr>
            <a:lvl4pPr marL="101155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4pPr>
            <a:lvl5pPr marL="134874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5pPr>
            <a:lvl6pPr marL="168592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6pPr>
            <a:lvl7pPr marL="202311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7pPr>
            <a:lvl8pPr marL="236029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8pPr>
            <a:lvl9pPr marL="269748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74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173" y="1346398"/>
            <a:ext cx="3821430" cy="32091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1998" y="1346398"/>
            <a:ext cx="3821430" cy="32091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67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344" y="269280"/>
            <a:ext cx="7755255" cy="9776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344" y="1239858"/>
            <a:ext cx="3803868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344" y="1847493"/>
            <a:ext cx="3803868" cy="27173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1998" y="1239858"/>
            <a:ext cx="3822601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1998" y="1847493"/>
            <a:ext cx="3822601" cy="27173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945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382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24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344" y="337185"/>
            <a:ext cx="2900025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2601" y="728227"/>
            <a:ext cx="4551998" cy="3594298"/>
          </a:xfrm>
        </p:spPr>
        <p:txBody>
          <a:bodyPr/>
          <a:lstStyle>
            <a:lvl1pPr>
              <a:defRPr sz="2360"/>
            </a:lvl1pPr>
            <a:lvl2pPr>
              <a:defRPr sz="2065"/>
            </a:lvl2pPr>
            <a:lvl3pPr>
              <a:defRPr sz="1770"/>
            </a:lvl3pPr>
            <a:lvl4pPr>
              <a:defRPr sz="1475"/>
            </a:lvl4pPr>
            <a:lvl5pPr>
              <a:defRPr sz="1475"/>
            </a:lvl5pPr>
            <a:lvl6pPr>
              <a:defRPr sz="1475"/>
            </a:lvl6pPr>
            <a:lvl7pPr>
              <a:defRPr sz="1475"/>
            </a:lvl7pPr>
            <a:lvl8pPr>
              <a:defRPr sz="1475"/>
            </a:lvl8pPr>
            <a:lvl9pPr>
              <a:defRPr sz="147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344" y="1517333"/>
            <a:ext cx="2900025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09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344" y="337185"/>
            <a:ext cx="2900025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2601" y="728227"/>
            <a:ext cx="4551998" cy="3594298"/>
          </a:xfrm>
        </p:spPr>
        <p:txBody>
          <a:bodyPr anchor="t"/>
          <a:lstStyle>
            <a:lvl1pPr marL="0" indent="0">
              <a:buNone/>
              <a:defRPr sz="2360"/>
            </a:lvl1pPr>
            <a:lvl2pPr marL="337185" indent="0">
              <a:buNone/>
              <a:defRPr sz="2065"/>
            </a:lvl2pPr>
            <a:lvl3pPr marL="674370" indent="0">
              <a:buNone/>
              <a:defRPr sz="1770"/>
            </a:lvl3pPr>
            <a:lvl4pPr marL="1011555" indent="0">
              <a:buNone/>
              <a:defRPr sz="1475"/>
            </a:lvl4pPr>
            <a:lvl5pPr marL="1348740" indent="0">
              <a:buNone/>
              <a:defRPr sz="1475"/>
            </a:lvl5pPr>
            <a:lvl6pPr marL="1685925" indent="0">
              <a:buNone/>
              <a:defRPr sz="1475"/>
            </a:lvl6pPr>
            <a:lvl7pPr marL="2023110" indent="0">
              <a:buNone/>
              <a:defRPr sz="1475"/>
            </a:lvl7pPr>
            <a:lvl8pPr marL="2360295" indent="0">
              <a:buNone/>
              <a:defRPr sz="1475"/>
            </a:lvl8pPr>
            <a:lvl9pPr marL="2697480" indent="0">
              <a:buNone/>
              <a:defRPr sz="147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344" y="1517333"/>
            <a:ext cx="2900025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110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58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4614" y="269279"/>
            <a:ext cx="1938814" cy="428623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173" y="269279"/>
            <a:ext cx="5704046" cy="428623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80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173" y="269280"/>
            <a:ext cx="7755255" cy="9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173" y="1346398"/>
            <a:ext cx="7755255" cy="3209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173" y="4687808"/>
            <a:ext cx="2023110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492CC-1D2C-4150-A000-68DB5D3064A7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78468" y="4687808"/>
            <a:ext cx="3034665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0318" y="4687808"/>
            <a:ext cx="2023110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A61B8-8EB8-40D2-A69B-DEA8B1B89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86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4370" rtl="0" eaLnBrk="1" latinLnBrk="0" hangingPunct="1">
        <a:lnSpc>
          <a:spcPct val="90000"/>
        </a:lnSpc>
        <a:spcBef>
          <a:spcPct val="0"/>
        </a:spcBef>
        <a:buNone/>
        <a:defRPr sz="32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593" indent="-168593" algn="l" defTabSz="67437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1pPr>
      <a:lvl2pPr marL="50577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2pPr>
      <a:lvl3pPr marL="84296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3pPr>
      <a:lvl4pPr marL="118014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51733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85451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19170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52888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86607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1pPr>
      <a:lvl2pPr marL="33718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2pPr>
      <a:lvl3pPr marL="67437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3pPr>
      <a:lvl4pPr marL="101155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34874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68592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02311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36029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69748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89DD33-44A5-AD29-7CBA-1F4617B08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693272"/>
              </p:ext>
            </p:extLst>
          </p:nvPr>
        </p:nvGraphicFramePr>
        <p:xfrm>
          <a:off x="4637971" y="587068"/>
          <a:ext cx="4309906" cy="34325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154">
                  <a:extLst>
                    <a:ext uri="{9D8B030D-6E8A-4147-A177-3AD203B41FA5}">
                      <a16:colId xmlns:a16="http://schemas.microsoft.com/office/drawing/2014/main" val="570950815"/>
                    </a:ext>
                  </a:extLst>
                </a:gridCol>
                <a:gridCol w="381663">
                  <a:extLst>
                    <a:ext uri="{9D8B030D-6E8A-4147-A177-3AD203B41FA5}">
                      <a16:colId xmlns:a16="http://schemas.microsoft.com/office/drawing/2014/main" val="1148283188"/>
                    </a:ext>
                  </a:extLst>
                </a:gridCol>
                <a:gridCol w="930303">
                  <a:extLst>
                    <a:ext uri="{9D8B030D-6E8A-4147-A177-3AD203B41FA5}">
                      <a16:colId xmlns:a16="http://schemas.microsoft.com/office/drawing/2014/main" val="2750285653"/>
                    </a:ext>
                  </a:extLst>
                </a:gridCol>
                <a:gridCol w="458580">
                  <a:extLst>
                    <a:ext uri="{9D8B030D-6E8A-4147-A177-3AD203B41FA5}">
                      <a16:colId xmlns:a16="http://schemas.microsoft.com/office/drawing/2014/main" val="3639407388"/>
                    </a:ext>
                  </a:extLst>
                </a:gridCol>
                <a:gridCol w="360404">
                  <a:extLst>
                    <a:ext uri="{9D8B030D-6E8A-4147-A177-3AD203B41FA5}">
                      <a16:colId xmlns:a16="http://schemas.microsoft.com/office/drawing/2014/main" val="2557625342"/>
                    </a:ext>
                  </a:extLst>
                </a:gridCol>
                <a:gridCol w="357809">
                  <a:extLst>
                    <a:ext uri="{9D8B030D-6E8A-4147-A177-3AD203B41FA5}">
                      <a16:colId xmlns:a16="http://schemas.microsoft.com/office/drawing/2014/main" val="2215697652"/>
                    </a:ext>
                  </a:extLst>
                </a:gridCol>
                <a:gridCol w="380337">
                  <a:extLst>
                    <a:ext uri="{9D8B030D-6E8A-4147-A177-3AD203B41FA5}">
                      <a16:colId xmlns:a16="http://schemas.microsoft.com/office/drawing/2014/main" val="3135808539"/>
                    </a:ext>
                  </a:extLst>
                </a:gridCol>
                <a:gridCol w="463131">
                  <a:extLst>
                    <a:ext uri="{9D8B030D-6E8A-4147-A177-3AD203B41FA5}">
                      <a16:colId xmlns:a16="http://schemas.microsoft.com/office/drawing/2014/main" val="2138060345"/>
                    </a:ext>
                  </a:extLst>
                </a:gridCol>
                <a:gridCol w="359525">
                  <a:extLst>
                    <a:ext uri="{9D8B030D-6E8A-4147-A177-3AD203B41FA5}">
                      <a16:colId xmlns:a16="http://schemas.microsoft.com/office/drawing/2014/main" val="1839397352"/>
                    </a:ext>
                  </a:extLst>
                </a:gridCol>
              </a:tblGrid>
              <a:tr h="210882">
                <a:tc rowSpan="2">
                  <a:txBody>
                    <a:bodyPr/>
                    <a:lstStyle/>
                    <a:p>
                      <a:pPr algn="ctr"/>
                      <a:r>
                        <a:rPr lang="en-GB" sz="600" dirty="0">
                          <a:solidFill>
                            <a:schemeClr val="tx1"/>
                          </a:solidFill>
                        </a:rPr>
                        <a:t>Interoception</a:t>
                      </a:r>
                    </a:p>
                  </a:txBody>
                  <a:tcPr marL="64991" marR="64991" marT="32496" marB="32496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sz="600" dirty="0">
                          <a:solidFill>
                            <a:schemeClr val="tx1"/>
                          </a:solidFill>
                        </a:rPr>
                        <a:t>Mood</a:t>
                      </a: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7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dirty="0">
                          <a:solidFill>
                            <a:schemeClr val="tx1"/>
                          </a:solidFill>
                        </a:rPr>
                        <a:t>Psychopathological &amp; Neurodevelopmental Traits</a:t>
                      </a: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GB" sz="600" dirty="0">
                          <a:solidFill>
                            <a:schemeClr val="tx1"/>
                          </a:solidFill>
                        </a:rPr>
                        <a:t>Personality</a:t>
                      </a: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762206"/>
                  </a:ext>
                </a:extLst>
              </a:tr>
              <a:tr h="210882">
                <a:tc vMerge="1">
                  <a:txBody>
                    <a:bodyPr/>
                    <a:lstStyle/>
                    <a:p>
                      <a:pPr algn="ctr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67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700" b="1" dirty="0"/>
                        <a:t>Consc</a:t>
                      </a:r>
                      <a:endParaRPr lang="en-GB" sz="500" b="1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700" b="1" dirty="0"/>
                        <a:t>Open</a:t>
                      </a:r>
                      <a:endParaRPr lang="en-GB" sz="500" b="1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700" b="1" dirty="0"/>
                        <a:t>Extra</a:t>
                      </a:r>
                      <a:endParaRPr lang="en-GB" sz="500" b="1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700" b="1" dirty="0"/>
                        <a:t>Agree</a:t>
                      </a:r>
                      <a:endParaRPr lang="en-GB" sz="500" b="1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700" b="1" dirty="0"/>
                        <a:t>Neuro</a:t>
                      </a:r>
                      <a:endParaRPr lang="en-GB" sz="500" b="1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700" b="1" dirty="0"/>
                        <a:t>Hon-Hum</a:t>
                      </a:r>
                      <a:endParaRPr lang="en-GB" sz="500" b="1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319537"/>
                  </a:ext>
                </a:extLst>
              </a:tr>
              <a:tr h="347304"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7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51030"/>
                  </a:ext>
                </a:extLst>
              </a:tr>
              <a:tr h="415160"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7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158743"/>
                  </a:ext>
                </a:extLst>
              </a:tr>
              <a:tr h="427604"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7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181800"/>
                  </a:ext>
                </a:extLst>
              </a:tr>
              <a:tr h="393440"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7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24462"/>
                  </a:ext>
                </a:extLst>
              </a:tr>
              <a:tr h="425015"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7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29660"/>
                  </a:ext>
                </a:extLst>
              </a:tr>
              <a:tr h="413280"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7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429787"/>
                  </a:ext>
                </a:extLst>
              </a:tr>
              <a:tr h="521486"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7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/>
                        </a:solidFill>
                      </a:endParaRPr>
                    </a:p>
                  </a:txBody>
                  <a:tcPr marL="64991" marR="64991" marT="32496" marB="32496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73149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3FDA66-F374-E7BA-CE65-3653E9D1878F}"/>
              </a:ext>
            </a:extLst>
          </p:cNvPr>
          <p:cNvSpPr/>
          <p:nvPr/>
        </p:nvSpPr>
        <p:spPr>
          <a:xfrm>
            <a:off x="3991686" y="1130202"/>
            <a:ext cx="907899" cy="246806"/>
          </a:xfrm>
          <a:prstGeom prst="roundRect">
            <a:avLst/>
          </a:prstGeom>
          <a:solidFill>
            <a:srgbClr val="2C9B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79342">
              <a:defRPr/>
            </a:pPr>
            <a:r>
              <a:rPr lang="en-GB" sz="700" b="1" dirty="0">
                <a:latin typeface="Arial" panose="020B0604020202020204" pitchFamily="34" charset="0"/>
                <a:cs typeface="Arial" panose="020B0604020202020204" pitchFamily="34" charset="0"/>
              </a:rPr>
              <a:t>Cough /  Sneeze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9759511-5A4D-ADB6-8F80-206793F2A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9" y="974777"/>
            <a:ext cx="2920708" cy="2753226"/>
          </a:xfrm>
          <a:prstGeom prst="rect">
            <a:avLst/>
          </a:prstGeom>
          <a:solidFill>
            <a:srgbClr val="2C9BF4"/>
          </a:solidFill>
        </p:spPr>
      </p:pic>
      <p:pic>
        <p:nvPicPr>
          <p:cNvPr id="1059" name="Picture 1058">
            <a:extLst>
              <a:ext uri="{FF2B5EF4-FFF2-40B4-BE49-F238E27FC236}">
                <a16:creationId xmlns:a16="http://schemas.microsoft.com/office/drawing/2014/main" id="{6469774F-CB1C-C56B-2E38-5729A55B04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855" y="295416"/>
            <a:ext cx="3851566" cy="3851566"/>
          </a:xfrm>
          <a:prstGeom prst="rect">
            <a:avLst/>
          </a:prstGeom>
        </p:spPr>
      </p:pic>
      <p:sp>
        <p:nvSpPr>
          <p:cNvPr id="45" name="Minus Sign 44">
            <a:extLst>
              <a:ext uri="{FF2B5EF4-FFF2-40B4-BE49-F238E27FC236}">
                <a16:creationId xmlns:a16="http://schemas.microsoft.com/office/drawing/2014/main" id="{673705FD-DDB3-51E1-2727-516C7E9A3998}"/>
              </a:ext>
            </a:extLst>
          </p:cNvPr>
          <p:cNvSpPr/>
          <p:nvPr/>
        </p:nvSpPr>
        <p:spPr>
          <a:xfrm>
            <a:off x="179884" y="1940909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Minus Sign 46">
            <a:extLst>
              <a:ext uri="{FF2B5EF4-FFF2-40B4-BE49-F238E27FC236}">
                <a16:creationId xmlns:a16="http://schemas.microsoft.com/office/drawing/2014/main" id="{41DE51A6-7BEA-2A6D-A951-715662F7EC2B}"/>
              </a:ext>
            </a:extLst>
          </p:cNvPr>
          <p:cNvSpPr/>
          <p:nvPr/>
        </p:nvSpPr>
        <p:spPr>
          <a:xfrm>
            <a:off x="179884" y="1137815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Minus Sign 53">
            <a:extLst>
              <a:ext uri="{FF2B5EF4-FFF2-40B4-BE49-F238E27FC236}">
                <a16:creationId xmlns:a16="http://schemas.microsoft.com/office/drawing/2014/main" id="{3D8FD486-2E2D-340D-78DF-4D692D6BB67E}"/>
              </a:ext>
            </a:extLst>
          </p:cNvPr>
          <p:cNvSpPr/>
          <p:nvPr/>
        </p:nvSpPr>
        <p:spPr>
          <a:xfrm>
            <a:off x="179884" y="3197622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Minus Sign 54">
            <a:extLst>
              <a:ext uri="{FF2B5EF4-FFF2-40B4-BE49-F238E27FC236}">
                <a16:creationId xmlns:a16="http://schemas.microsoft.com/office/drawing/2014/main" id="{E8A1E782-9A61-787E-279F-847FB2FE806C}"/>
              </a:ext>
            </a:extLst>
          </p:cNvPr>
          <p:cNvSpPr/>
          <p:nvPr/>
        </p:nvSpPr>
        <p:spPr>
          <a:xfrm>
            <a:off x="179884" y="2388814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3E2B5A-7B95-5ED9-D878-13B4FEEB17C2}"/>
              </a:ext>
            </a:extLst>
          </p:cNvPr>
          <p:cNvSpPr/>
          <p:nvPr/>
        </p:nvSpPr>
        <p:spPr>
          <a:xfrm>
            <a:off x="-7124" y="-2119"/>
            <a:ext cx="8991600" cy="534456"/>
          </a:xfrm>
          <a:prstGeom prst="rect">
            <a:avLst/>
          </a:prstGeom>
          <a:solidFill>
            <a:srgbClr val="1353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Mega-analysis of the Interoceptive Accuracy Scale (IAS)</a:t>
            </a:r>
            <a:b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 Structure and its Dispositional Correlates</a:t>
            </a:r>
          </a:p>
          <a:p>
            <a:pPr algn="ctr"/>
            <a:r>
              <a:rPr lang="en-GB" sz="700" dirty="0">
                <a:latin typeface="Arial" panose="020B0604020202020204" pitchFamily="34" charset="0"/>
                <a:cs typeface="Arial" panose="020B0604020202020204" pitchFamily="34" charset="0"/>
              </a:rPr>
              <a:t>Ana Neves , Magdalena Pfaff, Robyn Scharte , Raquel Nogueira-Arjona, Giulia L. Poerio, and Dominique Makowski </a:t>
            </a:r>
            <a:endParaRPr lang="en-GB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14" descr="University of Sussex - Wikipedia">
            <a:extLst>
              <a:ext uri="{FF2B5EF4-FFF2-40B4-BE49-F238E27FC236}">
                <a16:creationId xmlns:a16="http://schemas.microsoft.com/office/drawing/2014/main" id="{9F941BD2-ACDF-8465-4708-FB47AAAD0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24" y="0"/>
            <a:ext cx="540489" cy="54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logo of a book&#10;&#10;AI-generated content may be incorrect.">
            <a:extLst>
              <a:ext uri="{FF2B5EF4-FFF2-40B4-BE49-F238E27FC236}">
                <a16:creationId xmlns:a16="http://schemas.microsoft.com/office/drawing/2014/main" id="{619A018B-70FF-CD8D-C2C2-C0906C5685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111" y="-4734"/>
            <a:ext cx="540489" cy="540489"/>
          </a:xfrm>
          <a:prstGeom prst="rect">
            <a:avLst/>
          </a:prstGeom>
        </p:spPr>
      </p:pic>
      <p:sp>
        <p:nvSpPr>
          <p:cNvPr id="1037" name="Rectangle: Rounded Corners 1036">
            <a:extLst>
              <a:ext uri="{FF2B5EF4-FFF2-40B4-BE49-F238E27FC236}">
                <a16:creationId xmlns:a16="http://schemas.microsoft.com/office/drawing/2014/main" id="{099AEFDD-13BC-22B3-EA5A-8B2C5DD10291}"/>
              </a:ext>
            </a:extLst>
          </p:cNvPr>
          <p:cNvSpPr/>
          <p:nvPr/>
        </p:nvSpPr>
        <p:spPr>
          <a:xfrm>
            <a:off x="890865" y="682863"/>
            <a:ext cx="951133" cy="182916"/>
          </a:xfrm>
          <a:prstGeom prst="roundRect">
            <a:avLst/>
          </a:prstGeom>
          <a:solidFill>
            <a:srgbClr val="F54D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900" b="1" i="1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&gt; 33,000</a:t>
            </a: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4AAE1B2-97B9-FCCB-A427-272BB1FE9EE0}"/>
              </a:ext>
            </a:extLst>
          </p:cNvPr>
          <p:cNvSpPr/>
          <p:nvPr/>
        </p:nvSpPr>
        <p:spPr>
          <a:xfrm>
            <a:off x="100186" y="4129122"/>
            <a:ext cx="3375023" cy="826642"/>
          </a:xfrm>
          <a:prstGeom prst="rect">
            <a:avLst/>
          </a:prstGeom>
          <a:solidFill>
            <a:srgbClr val="1353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Cross-validated analysis suggests a 14-item, </a:t>
            </a:r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7-pair structure to be optimal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900" dirty="0">
                <a:latin typeface="Arial" panose="020B0604020202020204" pitchFamily="34" charset="0"/>
                <a:cs typeface="Arial" panose="020B0604020202020204" pitchFamily="34" charset="0"/>
              </a:rPr>
              <a:t>IAS reflects correlated yet distinct domains, </a:t>
            </a:r>
            <a:r>
              <a:rPr 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not a unidimensional scale </a:t>
            </a: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71DD44D-0DF3-8A18-A8A4-DB7B6CF4BEBA}"/>
              </a:ext>
            </a:extLst>
          </p:cNvPr>
          <p:cNvSpPr/>
          <p:nvPr/>
        </p:nvSpPr>
        <p:spPr>
          <a:xfrm>
            <a:off x="3578087" y="4129122"/>
            <a:ext cx="5294816" cy="826642"/>
          </a:xfrm>
          <a:prstGeom prst="rect">
            <a:avLst/>
          </a:prstGeom>
          <a:solidFill>
            <a:srgbClr val="1353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IAS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positively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links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adaptive traits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negatively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maladaptive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traits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Self-perceived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interoceptive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ability is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differentiated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across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distinct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bodily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Calls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of novel,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context-sensitive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multi-dimensional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interoception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000" b="1" dirty="0">
                <a:latin typeface="Arial" panose="020B0604020202020204" pitchFamily="34" charset="0"/>
                <a:cs typeface="Arial" panose="020B0604020202020204" pitchFamily="34" charset="0"/>
              </a:rPr>
              <a:t>measures</a:t>
            </a:r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53" name="Rectangle: Rounded Corners 1052">
            <a:extLst>
              <a:ext uri="{FF2B5EF4-FFF2-40B4-BE49-F238E27FC236}">
                <a16:creationId xmlns:a16="http://schemas.microsoft.com/office/drawing/2014/main" id="{D612B07A-55B8-0325-EC20-188005C59BBB}"/>
              </a:ext>
            </a:extLst>
          </p:cNvPr>
          <p:cNvSpPr/>
          <p:nvPr/>
        </p:nvSpPr>
        <p:spPr>
          <a:xfrm>
            <a:off x="27639" y="4019591"/>
            <a:ext cx="951133" cy="182916"/>
          </a:xfrm>
          <a:prstGeom prst="roundRect">
            <a:avLst/>
          </a:prstGeom>
          <a:solidFill>
            <a:srgbClr val="F59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Study 1</a:t>
            </a:r>
          </a:p>
        </p:txBody>
      </p:sp>
      <p:sp>
        <p:nvSpPr>
          <p:cNvPr id="1054" name="Rectangle: Rounded Corners 1053">
            <a:extLst>
              <a:ext uri="{FF2B5EF4-FFF2-40B4-BE49-F238E27FC236}">
                <a16:creationId xmlns:a16="http://schemas.microsoft.com/office/drawing/2014/main" id="{69C45395-6B3C-941E-DAFC-E3BBB50A2CDB}"/>
              </a:ext>
            </a:extLst>
          </p:cNvPr>
          <p:cNvSpPr/>
          <p:nvPr/>
        </p:nvSpPr>
        <p:spPr>
          <a:xfrm>
            <a:off x="3517942" y="4019591"/>
            <a:ext cx="951133" cy="182916"/>
          </a:xfrm>
          <a:prstGeom prst="roundRect">
            <a:avLst/>
          </a:prstGeom>
          <a:solidFill>
            <a:srgbClr val="F59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Study 2</a:t>
            </a:r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2CE05DCD-07FD-AFDC-3088-AA906E5BD5BC}"/>
              </a:ext>
            </a:extLst>
          </p:cNvPr>
          <p:cNvSpPr/>
          <p:nvPr/>
        </p:nvSpPr>
        <p:spPr>
          <a:xfrm>
            <a:off x="4960881" y="1123791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lus Sign 14">
            <a:extLst>
              <a:ext uri="{FF2B5EF4-FFF2-40B4-BE49-F238E27FC236}">
                <a16:creationId xmlns:a16="http://schemas.microsoft.com/office/drawing/2014/main" id="{35686DD6-5AD0-25B6-A249-1770DCAFF3BA}"/>
              </a:ext>
            </a:extLst>
          </p:cNvPr>
          <p:cNvSpPr/>
          <p:nvPr/>
        </p:nvSpPr>
        <p:spPr>
          <a:xfrm>
            <a:off x="4960881" y="1532896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Plus Sign 15">
            <a:extLst>
              <a:ext uri="{FF2B5EF4-FFF2-40B4-BE49-F238E27FC236}">
                <a16:creationId xmlns:a16="http://schemas.microsoft.com/office/drawing/2014/main" id="{1EECC359-FC07-CF8B-0311-26CEF372D775}"/>
              </a:ext>
            </a:extLst>
          </p:cNvPr>
          <p:cNvSpPr/>
          <p:nvPr/>
        </p:nvSpPr>
        <p:spPr>
          <a:xfrm>
            <a:off x="4960881" y="1973762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Plus Sign 16">
            <a:extLst>
              <a:ext uri="{FF2B5EF4-FFF2-40B4-BE49-F238E27FC236}">
                <a16:creationId xmlns:a16="http://schemas.microsoft.com/office/drawing/2014/main" id="{6E248799-6ED7-1B2C-0C88-0CB95D897395}"/>
              </a:ext>
            </a:extLst>
          </p:cNvPr>
          <p:cNvSpPr/>
          <p:nvPr/>
        </p:nvSpPr>
        <p:spPr>
          <a:xfrm>
            <a:off x="4960881" y="2382326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Plus Sign 17">
            <a:extLst>
              <a:ext uri="{FF2B5EF4-FFF2-40B4-BE49-F238E27FC236}">
                <a16:creationId xmlns:a16="http://schemas.microsoft.com/office/drawing/2014/main" id="{AC398E60-3EBD-0CFD-A611-E2AE663094C3}"/>
              </a:ext>
            </a:extLst>
          </p:cNvPr>
          <p:cNvSpPr/>
          <p:nvPr/>
        </p:nvSpPr>
        <p:spPr>
          <a:xfrm>
            <a:off x="4960881" y="2832423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Plus Sign 18">
            <a:extLst>
              <a:ext uri="{FF2B5EF4-FFF2-40B4-BE49-F238E27FC236}">
                <a16:creationId xmlns:a16="http://schemas.microsoft.com/office/drawing/2014/main" id="{1A52E19C-1176-FE9F-EAC2-E855EDC3EAB1}"/>
              </a:ext>
            </a:extLst>
          </p:cNvPr>
          <p:cNvSpPr/>
          <p:nvPr/>
        </p:nvSpPr>
        <p:spPr>
          <a:xfrm>
            <a:off x="4960881" y="3208600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Plus Sign 19">
            <a:extLst>
              <a:ext uri="{FF2B5EF4-FFF2-40B4-BE49-F238E27FC236}">
                <a16:creationId xmlns:a16="http://schemas.microsoft.com/office/drawing/2014/main" id="{76B89DF1-364B-DB80-64B2-B5D427B87821}"/>
              </a:ext>
            </a:extLst>
          </p:cNvPr>
          <p:cNvSpPr/>
          <p:nvPr/>
        </p:nvSpPr>
        <p:spPr>
          <a:xfrm>
            <a:off x="4960881" y="3653835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Minus Sign 20">
            <a:extLst>
              <a:ext uri="{FF2B5EF4-FFF2-40B4-BE49-F238E27FC236}">
                <a16:creationId xmlns:a16="http://schemas.microsoft.com/office/drawing/2014/main" id="{6C150899-FD1E-1385-36FA-A31B79CA901B}"/>
              </a:ext>
            </a:extLst>
          </p:cNvPr>
          <p:cNvSpPr/>
          <p:nvPr/>
        </p:nvSpPr>
        <p:spPr>
          <a:xfrm>
            <a:off x="5347634" y="1123791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Minus Sign 22">
            <a:extLst>
              <a:ext uri="{FF2B5EF4-FFF2-40B4-BE49-F238E27FC236}">
                <a16:creationId xmlns:a16="http://schemas.microsoft.com/office/drawing/2014/main" id="{7C99A75D-0C8C-E978-6A54-267897438A70}"/>
              </a:ext>
            </a:extLst>
          </p:cNvPr>
          <p:cNvSpPr/>
          <p:nvPr/>
        </p:nvSpPr>
        <p:spPr>
          <a:xfrm>
            <a:off x="5347634" y="1532896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Minus Sign 23">
            <a:extLst>
              <a:ext uri="{FF2B5EF4-FFF2-40B4-BE49-F238E27FC236}">
                <a16:creationId xmlns:a16="http://schemas.microsoft.com/office/drawing/2014/main" id="{EF762FBD-472C-5155-90B6-DB8F98284C82}"/>
              </a:ext>
            </a:extLst>
          </p:cNvPr>
          <p:cNvSpPr/>
          <p:nvPr/>
        </p:nvSpPr>
        <p:spPr>
          <a:xfrm>
            <a:off x="5347634" y="1973762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Minus Sign 24">
            <a:extLst>
              <a:ext uri="{FF2B5EF4-FFF2-40B4-BE49-F238E27FC236}">
                <a16:creationId xmlns:a16="http://schemas.microsoft.com/office/drawing/2014/main" id="{9B3F2DF1-510E-B801-9CB9-21C6C9DAF3E8}"/>
              </a:ext>
            </a:extLst>
          </p:cNvPr>
          <p:cNvSpPr/>
          <p:nvPr/>
        </p:nvSpPr>
        <p:spPr>
          <a:xfrm>
            <a:off x="5347634" y="2382326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Minus Sign 25">
            <a:extLst>
              <a:ext uri="{FF2B5EF4-FFF2-40B4-BE49-F238E27FC236}">
                <a16:creationId xmlns:a16="http://schemas.microsoft.com/office/drawing/2014/main" id="{E414D0B0-5A4C-F162-9039-6FE9D20E39A0}"/>
              </a:ext>
            </a:extLst>
          </p:cNvPr>
          <p:cNvSpPr/>
          <p:nvPr/>
        </p:nvSpPr>
        <p:spPr>
          <a:xfrm>
            <a:off x="5347634" y="2832423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Minus Sign 26">
            <a:extLst>
              <a:ext uri="{FF2B5EF4-FFF2-40B4-BE49-F238E27FC236}">
                <a16:creationId xmlns:a16="http://schemas.microsoft.com/office/drawing/2014/main" id="{1D0CDDDE-99B0-134F-9FD4-621F66487875}"/>
              </a:ext>
            </a:extLst>
          </p:cNvPr>
          <p:cNvSpPr/>
          <p:nvPr/>
        </p:nvSpPr>
        <p:spPr>
          <a:xfrm>
            <a:off x="5347634" y="3208600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Minus Sign 27">
            <a:extLst>
              <a:ext uri="{FF2B5EF4-FFF2-40B4-BE49-F238E27FC236}">
                <a16:creationId xmlns:a16="http://schemas.microsoft.com/office/drawing/2014/main" id="{18D5C16D-4CA5-9FBD-2BA1-20CB4936B1FB}"/>
              </a:ext>
            </a:extLst>
          </p:cNvPr>
          <p:cNvSpPr/>
          <p:nvPr/>
        </p:nvSpPr>
        <p:spPr>
          <a:xfrm>
            <a:off x="5347634" y="3653835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Minus Sign 28">
            <a:extLst>
              <a:ext uri="{FF2B5EF4-FFF2-40B4-BE49-F238E27FC236}">
                <a16:creationId xmlns:a16="http://schemas.microsoft.com/office/drawing/2014/main" id="{8361839F-A2CD-8DA5-D869-75C5DCFE48F6}"/>
              </a:ext>
            </a:extLst>
          </p:cNvPr>
          <p:cNvSpPr/>
          <p:nvPr/>
        </p:nvSpPr>
        <p:spPr>
          <a:xfrm>
            <a:off x="8674651" y="1532896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Minus Sign 33">
            <a:extLst>
              <a:ext uri="{FF2B5EF4-FFF2-40B4-BE49-F238E27FC236}">
                <a16:creationId xmlns:a16="http://schemas.microsoft.com/office/drawing/2014/main" id="{BF42CBB0-512F-0174-FA54-BD0EF0686900}"/>
              </a:ext>
            </a:extLst>
          </p:cNvPr>
          <p:cNvSpPr/>
          <p:nvPr/>
        </p:nvSpPr>
        <p:spPr>
          <a:xfrm>
            <a:off x="6025276" y="1123791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Minus Sign 34">
            <a:extLst>
              <a:ext uri="{FF2B5EF4-FFF2-40B4-BE49-F238E27FC236}">
                <a16:creationId xmlns:a16="http://schemas.microsoft.com/office/drawing/2014/main" id="{F57B82DE-2528-FA6F-A678-47CEE92EF1CA}"/>
              </a:ext>
            </a:extLst>
          </p:cNvPr>
          <p:cNvSpPr/>
          <p:nvPr/>
        </p:nvSpPr>
        <p:spPr>
          <a:xfrm>
            <a:off x="6025276" y="1532896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Minus Sign 36">
            <a:extLst>
              <a:ext uri="{FF2B5EF4-FFF2-40B4-BE49-F238E27FC236}">
                <a16:creationId xmlns:a16="http://schemas.microsoft.com/office/drawing/2014/main" id="{042F2367-B1AF-C471-7B91-D89AB790E73C}"/>
              </a:ext>
            </a:extLst>
          </p:cNvPr>
          <p:cNvSpPr/>
          <p:nvPr/>
        </p:nvSpPr>
        <p:spPr>
          <a:xfrm>
            <a:off x="6025276" y="3653835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Minus Sign 37">
            <a:extLst>
              <a:ext uri="{FF2B5EF4-FFF2-40B4-BE49-F238E27FC236}">
                <a16:creationId xmlns:a16="http://schemas.microsoft.com/office/drawing/2014/main" id="{9C84CBB9-B7F1-C098-86E8-2B7550792090}"/>
              </a:ext>
            </a:extLst>
          </p:cNvPr>
          <p:cNvSpPr/>
          <p:nvPr/>
        </p:nvSpPr>
        <p:spPr>
          <a:xfrm>
            <a:off x="6025276" y="3208600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Minus Sign 38">
            <a:extLst>
              <a:ext uri="{FF2B5EF4-FFF2-40B4-BE49-F238E27FC236}">
                <a16:creationId xmlns:a16="http://schemas.microsoft.com/office/drawing/2014/main" id="{8DFC481C-E132-C13D-F06E-95F35BB5B8A8}"/>
              </a:ext>
            </a:extLst>
          </p:cNvPr>
          <p:cNvSpPr/>
          <p:nvPr/>
        </p:nvSpPr>
        <p:spPr>
          <a:xfrm>
            <a:off x="6025276" y="2382326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AutoShape 4" descr="Inside The Human Body PNG Transparent Images Free Download | Vector Files |  Pngtree">
            <a:extLst>
              <a:ext uri="{FF2B5EF4-FFF2-40B4-BE49-F238E27FC236}">
                <a16:creationId xmlns:a16="http://schemas.microsoft.com/office/drawing/2014/main" id="{0FCBC10C-6F31-D5C9-BF75-EAC7891E4A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17141" y="2106068"/>
            <a:ext cx="216638" cy="21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4991" tIns="32496" rIns="64991" bIns="32496" numCol="1" anchor="t" anchorCtr="0" compatLnSpc="1">
            <a:prstTxWarp prst="textNoShape">
              <a:avLst/>
            </a:prstTxWarp>
          </a:bodyPr>
          <a:lstStyle/>
          <a:p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B0EDBB8-8F07-38B0-7889-C38C7B540896}"/>
              </a:ext>
            </a:extLst>
          </p:cNvPr>
          <p:cNvSpPr/>
          <p:nvPr/>
        </p:nvSpPr>
        <p:spPr>
          <a:xfrm>
            <a:off x="4002484" y="1539307"/>
            <a:ext cx="907899" cy="246806"/>
          </a:xfrm>
          <a:prstGeom prst="roundRect">
            <a:avLst/>
          </a:prstGeom>
          <a:solidFill>
            <a:srgbClr val="6D42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latin typeface="Arial" panose="020B0604020202020204" pitchFamily="34" charset="0"/>
                <a:cs typeface="Arial" panose="020B0604020202020204" pitchFamily="34" charset="0"/>
              </a:rPr>
              <a:t>Bruise /  Blood Sugar</a:t>
            </a:r>
          </a:p>
        </p:txBody>
      </p:sp>
      <p:sp>
        <p:nvSpPr>
          <p:cNvPr id="1033" name="Rectangle: Rounded Corners 1032">
            <a:extLst>
              <a:ext uri="{FF2B5EF4-FFF2-40B4-BE49-F238E27FC236}">
                <a16:creationId xmlns:a16="http://schemas.microsoft.com/office/drawing/2014/main" id="{C09FBE4A-40B8-208E-B481-7A0DCFEF46C7}"/>
              </a:ext>
            </a:extLst>
          </p:cNvPr>
          <p:cNvSpPr/>
          <p:nvPr/>
        </p:nvSpPr>
        <p:spPr>
          <a:xfrm>
            <a:off x="4004246" y="3660246"/>
            <a:ext cx="907899" cy="246806"/>
          </a:xfrm>
          <a:prstGeom prst="roundRect">
            <a:avLst/>
          </a:prstGeom>
          <a:solidFill>
            <a:srgbClr val="0898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latin typeface="Arial" panose="020B0604020202020204" pitchFamily="34" charset="0"/>
                <a:cs typeface="Arial" panose="020B0604020202020204" pitchFamily="34" charset="0"/>
              </a:rPr>
              <a:t>Muscles  /  Pain</a:t>
            </a:r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FFB73D8C-EDC2-0A21-3C0A-5156D82BBA1E}"/>
              </a:ext>
            </a:extLst>
          </p:cNvPr>
          <p:cNvSpPr/>
          <p:nvPr/>
        </p:nvSpPr>
        <p:spPr>
          <a:xfrm>
            <a:off x="4009242" y="2838834"/>
            <a:ext cx="907899" cy="246806"/>
          </a:xfrm>
          <a:prstGeom prst="roundRect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latin typeface="Arial" panose="020B0604020202020204" pitchFamily="34" charset="0"/>
                <a:cs typeface="Arial" panose="020B0604020202020204" pitchFamily="34" charset="0"/>
              </a:rPr>
              <a:t>Wind  /  Burp</a:t>
            </a:r>
          </a:p>
        </p:txBody>
      </p:sp>
      <p:sp>
        <p:nvSpPr>
          <p:cNvPr id="1042" name="Rectangle: Rounded Corners 1041">
            <a:extLst>
              <a:ext uri="{FF2B5EF4-FFF2-40B4-BE49-F238E27FC236}">
                <a16:creationId xmlns:a16="http://schemas.microsoft.com/office/drawing/2014/main" id="{A7F7FC90-990E-68A4-3320-684D86473A32}"/>
              </a:ext>
            </a:extLst>
          </p:cNvPr>
          <p:cNvSpPr/>
          <p:nvPr/>
        </p:nvSpPr>
        <p:spPr>
          <a:xfrm>
            <a:off x="4014267" y="1980173"/>
            <a:ext cx="907899" cy="246806"/>
          </a:xfrm>
          <a:prstGeom prst="roundRect">
            <a:avLst/>
          </a:prstGeom>
          <a:solidFill>
            <a:srgbClr val="F54D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latin typeface="Arial" panose="020B0604020202020204" pitchFamily="34" charset="0"/>
                <a:cs typeface="Arial" panose="020B0604020202020204" pitchFamily="34" charset="0"/>
              </a:rPr>
              <a:t>Breathing  /  Heart</a:t>
            </a:r>
          </a:p>
        </p:txBody>
      </p:sp>
      <p:sp>
        <p:nvSpPr>
          <p:cNvPr id="1045" name="Rectangle: Rounded Corners 1044">
            <a:extLst>
              <a:ext uri="{FF2B5EF4-FFF2-40B4-BE49-F238E27FC236}">
                <a16:creationId xmlns:a16="http://schemas.microsoft.com/office/drawing/2014/main" id="{9E42A7BC-0682-C782-3821-51FD8612A238}"/>
              </a:ext>
            </a:extLst>
          </p:cNvPr>
          <p:cNvSpPr/>
          <p:nvPr/>
        </p:nvSpPr>
        <p:spPr>
          <a:xfrm>
            <a:off x="4002484" y="3215011"/>
            <a:ext cx="907899" cy="246806"/>
          </a:xfrm>
          <a:prstGeom prst="roundRect">
            <a:avLst/>
          </a:prstGeom>
          <a:solidFill>
            <a:srgbClr val="805E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latin typeface="Arial" panose="020B0604020202020204" pitchFamily="34" charset="0"/>
                <a:cs typeface="Arial" panose="020B0604020202020204" pitchFamily="34" charset="0"/>
              </a:rPr>
              <a:t>Urinate  /  Defecate</a:t>
            </a:r>
          </a:p>
        </p:txBody>
      </p:sp>
      <p:sp>
        <p:nvSpPr>
          <p:cNvPr id="1047" name="Rectangle: Rounded Corners 1046">
            <a:extLst>
              <a:ext uri="{FF2B5EF4-FFF2-40B4-BE49-F238E27FC236}">
                <a16:creationId xmlns:a16="http://schemas.microsoft.com/office/drawing/2014/main" id="{41DDB789-7AB4-2F05-C485-5F8D09C18720}"/>
              </a:ext>
            </a:extLst>
          </p:cNvPr>
          <p:cNvSpPr/>
          <p:nvPr/>
        </p:nvSpPr>
        <p:spPr>
          <a:xfrm>
            <a:off x="4028183" y="2388737"/>
            <a:ext cx="907899" cy="246806"/>
          </a:xfrm>
          <a:prstGeom prst="roundRect">
            <a:avLst/>
          </a:prstGeom>
          <a:solidFill>
            <a:srgbClr val="F59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b="1" dirty="0">
                <a:latin typeface="Arial" panose="020B0604020202020204" pitchFamily="34" charset="0"/>
                <a:cs typeface="Arial" panose="020B0604020202020204" pitchFamily="34" charset="0"/>
              </a:rPr>
              <a:t>Hungry  / Thirsty </a:t>
            </a:r>
          </a:p>
        </p:txBody>
      </p:sp>
      <p:sp>
        <p:nvSpPr>
          <p:cNvPr id="1064" name="Plus Sign 1063">
            <a:extLst>
              <a:ext uri="{FF2B5EF4-FFF2-40B4-BE49-F238E27FC236}">
                <a16:creationId xmlns:a16="http://schemas.microsoft.com/office/drawing/2014/main" id="{FC163350-8BE9-E2C3-9ACA-EBBDF680ECBC}"/>
              </a:ext>
            </a:extLst>
          </p:cNvPr>
          <p:cNvSpPr/>
          <p:nvPr/>
        </p:nvSpPr>
        <p:spPr>
          <a:xfrm>
            <a:off x="7155434" y="1123791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5" name="Plus Sign 1064">
            <a:extLst>
              <a:ext uri="{FF2B5EF4-FFF2-40B4-BE49-F238E27FC236}">
                <a16:creationId xmlns:a16="http://schemas.microsoft.com/office/drawing/2014/main" id="{D8122CC7-4105-2EFB-95A2-EF254AAB797F}"/>
              </a:ext>
            </a:extLst>
          </p:cNvPr>
          <p:cNvSpPr/>
          <p:nvPr/>
        </p:nvSpPr>
        <p:spPr>
          <a:xfrm>
            <a:off x="7884253" y="1123791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6" name="Plus Sign 1065">
            <a:extLst>
              <a:ext uri="{FF2B5EF4-FFF2-40B4-BE49-F238E27FC236}">
                <a16:creationId xmlns:a16="http://schemas.microsoft.com/office/drawing/2014/main" id="{E1035BCC-E40A-DA6F-7465-355CAB6E65C7}"/>
              </a:ext>
            </a:extLst>
          </p:cNvPr>
          <p:cNvSpPr/>
          <p:nvPr/>
        </p:nvSpPr>
        <p:spPr>
          <a:xfrm>
            <a:off x="7522753" y="1532896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7" name="Plus Sign 1066">
            <a:extLst>
              <a:ext uri="{FF2B5EF4-FFF2-40B4-BE49-F238E27FC236}">
                <a16:creationId xmlns:a16="http://schemas.microsoft.com/office/drawing/2014/main" id="{7E6D6159-60AA-A3D6-FFC8-CDC8AB479D17}"/>
              </a:ext>
            </a:extLst>
          </p:cNvPr>
          <p:cNvSpPr/>
          <p:nvPr/>
        </p:nvSpPr>
        <p:spPr>
          <a:xfrm>
            <a:off x="7884253" y="1532896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8" name="Plus Sign 1067">
            <a:extLst>
              <a:ext uri="{FF2B5EF4-FFF2-40B4-BE49-F238E27FC236}">
                <a16:creationId xmlns:a16="http://schemas.microsoft.com/office/drawing/2014/main" id="{FDD3399D-23B8-6E21-926E-9ABF4832B76C}"/>
              </a:ext>
            </a:extLst>
          </p:cNvPr>
          <p:cNvSpPr/>
          <p:nvPr/>
        </p:nvSpPr>
        <p:spPr>
          <a:xfrm>
            <a:off x="6729192" y="1973762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9" name="Plus Sign 1068">
            <a:extLst>
              <a:ext uri="{FF2B5EF4-FFF2-40B4-BE49-F238E27FC236}">
                <a16:creationId xmlns:a16="http://schemas.microsoft.com/office/drawing/2014/main" id="{29388A1A-4FD7-FEC3-3902-D98884A67C35}"/>
              </a:ext>
            </a:extLst>
          </p:cNvPr>
          <p:cNvSpPr/>
          <p:nvPr/>
        </p:nvSpPr>
        <p:spPr>
          <a:xfrm>
            <a:off x="7155434" y="1973762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0" name="Plus Sign 1069">
            <a:extLst>
              <a:ext uri="{FF2B5EF4-FFF2-40B4-BE49-F238E27FC236}">
                <a16:creationId xmlns:a16="http://schemas.microsoft.com/office/drawing/2014/main" id="{93A9C3C1-314A-A24A-9B55-2D3CDA914CFB}"/>
              </a:ext>
            </a:extLst>
          </p:cNvPr>
          <p:cNvSpPr/>
          <p:nvPr/>
        </p:nvSpPr>
        <p:spPr>
          <a:xfrm>
            <a:off x="7884253" y="1973762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1" name="Minus Sign 1070">
            <a:extLst>
              <a:ext uri="{FF2B5EF4-FFF2-40B4-BE49-F238E27FC236}">
                <a16:creationId xmlns:a16="http://schemas.microsoft.com/office/drawing/2014/main" id="{B98E72CC-8D07-5FF4-E448-2CA46B72AC65}"/>
              </a:ext>
            </a:extLst>
          </p:cNvPr>
          <p:cNvSpPr/>
          <p:nvPr/>
        </p:nvSpPr>
        <p:spPr>
          <a:xfrm>
            <a:off x="8674651" y="2382326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2" name="Minus Sign 1071">
            <a:extLst>
              <a:ext uri="{FF2B5EF4-FFF2-40B4-BE49-F238E27FC236}">
                <a16:creationId xmlns:a16="http://schemas.microsoft.com/office/drawing/2014/main" id="{C8CF5850-EA99-FE04-E491-BB72D68E09E4}"/>
              </a:ext>
            </a:extLst>
          </p:cNvPr>
          <p:cNvSpPr/>
          <p:nvPr/>
        </p:nvSpPr>
        <p:spPr>
          <a:xfrm>
            <a:off x="8331598" y="2382326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3" name="Plus Sign 1072">
            <a:extLst>
              <a:ext uri="{FF2B5EF4-FFF2-40B4-BE49-F238E27FC236}">
                <a16:creationId xmlns:a16="http://schemas.microsoft.com/office/drawing/2014/main" id="{1B0EBA1D-5FED-B9BB-4A81-75F47FB2B6D1}"/>
              </a:ext>
            </a:extLst>
          </p:cNvPr>
          <p:cNvSpPr/>
          <p:nvPr/>
        </p:nvSpPr>
        <p:spPr>
          <a:xfrm>
            <a:off x="6729192" y="2382326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4" name="Plus Sign 1073">
            <a:extLst>
              <a:ext uri="{FF2B5EF4-FFF2-40B4-BE49-F238E27FC236}">
                <a16:creationId xmlns:a16="http://schemas.microsoft.com/office/drawing/2014/main" id="{78717D71-01C3-D556-0386-7199E4346565}"/>
              </a:ext>
            </a:extLst>
          </p:cNvPr>
          <p:cNvSpPr/>
          <p:nvPr/>
        </p:nvSpPr>
        <p:spPr>
          <a:xfrm>
            <a:off x="7884253" y="2382326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5" name="Plus Sign 1074">
            <a:extLst>
              <a:ext uri="{FF2B5EF4-FFF2-40B4-BE49-F238E27FC236}">
                <a16:creationId xmlns:a16="http://schemas.microsoft.com/office/drawing/2014/main" id="{DD432A24-11FB-16C7-3D53-2C6CF3EC9623}"/>
              </a:ext>
            </a:extLst>
          </p:cNvPr>
          <p:cNvSpPr/>
          <p:nvPr/>
        </p:nvSpPr>
        <p:spPr>
          <a:xfrm>
            <a:off x="7522753" y="2382326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6" name="Plus Sign 1075">
            <a:extLst>
              <a:ext uri="{FF2B5EF4-FFF2-40B4-BE49-F238E27FC236}">
                <a16:creationId xmlns:a16="http://schemas.microsoft.com/office/drawing/2014/main" id="{FB410F71-2B8E-C1BC-FE88-6543673AB53A}"/>
              </a:ext>
            </a:extLst>
          </p:cNvPr>
          <p:cNvSpPr/>
          <p:nvPr/>
        </p:nvSpPr>
        <p:spPr>
          <a:xfrm>
            <a:off x="6729192" y="2832423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7" name="Plus Sign 1076">
            <a:extLst>
              <a:ext uri="{FF2B5EF4-FFF2-40B4-BE49-F238E27FC236}">
                <a16:creationId xmlns:a16="http://schemas.microsoft.com/office/drawing/2014/main" id="{1348440D-0A71-7EA8-3F46-FDE827F34960}"/>
              </a:ext>
            </a:extLst>
          </p:cNvPr>
          <p:cNvSpPr/>
          <p:nvPr/>
        </p:nvSpPr>
        <p:spPr>
          <a:xfrm>
            <a:off x="7155434" y="2832423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8" name="Plus Sign 1077">
            <a:extLst>
              <a:ext uri="{FF2B5EF4-FFF2-40B4-BE49-F238E27FC236}">
                <a16:creationId xmlns:a16="http://schemas.microsoft.com/office/drawing/2014/main" id="{6F9914DD-77EB-535A-E80E-643F0F6FA7F6}"/>
              </a:ext>
            </a:extLst>
          </p:cNvPr>
          <p:cNvSpPr/>
          <p:nvPr/>
        </p:nvSpPr>
        <p:spPr>
          <a:xfrm>
            <a:off x="7884253" y="2832423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9" name="Minus Sign 1078">
            <a:extLst>
              <a:ext uri="{FF2B5EF4-FFF2-40B4-BE49-F238E27FC236}">
                <a16:creationId xmlns:a16="http://schemas.microsoft.com/office/drawing/2014/main" id="{CABBC85F-8D35-B602-A4E2-4C28FCFCA886}"/>
              </a:ext>
            </a:extLst>
          </p:cNvPr>
          <p:cNvSpPr/>
          <p:nvPr/>
        </p:nvSpPr>
        <p:spPr>
          <a:xfrm>
            <a:off x="8331598" y="2832423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0" name="Minus Sign 1079">
            <a:extLst>
              <a:ext uri="{FF2B5EF4-FFF2-40B4-BE49-F238E27FC236}">
                <a16:creationId xmlns:a16="http://schemas.microsoft.com/office/drawing/2014/main" id="{9F122CF8-E70A-B8E7-3219-EA400BCC2688}"/>
              </a:ext>
            </a:extLst>
          </p:cNvPr>
          <p:cNvSpPr/>
          <p:nvPr/>
        </p:nvSpPr>
        <p:spPr>
          <a:xfrm>
            <a:off x="8331598" y="3208600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1" name="Plus Sign 1080">
            <a:extLst>
              <a:ext uri="{FF2B5EF4-FFF2-40B4-BE49-F238E27FC236}">
                <a16:creationId xmlns:a16="http://schemas.microsoft.com/office/drawing/2014/main" id="{26822266-432A-0376-C45D-7400A6936F02}"/>
              </a:ext>
            </a:extLst>
          </p:cNvPr>
          <p:cNvSpPr/>
          <p:nvPr/>
        </p:nvSpPr>
        <p:spPr>
          <a:xfrm>
            <a:off x="6729192" y="3208600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2" name="Plus Sign 1081">
            <a:extLst>
              <a:ext uri="{FF2B5EF4-FFF2-40B4-BE49-F238E27FC236}">
                <a16:creationId xmlns:a16="http://schemas.microsoft.com/office/drawing/2014/main" id="{4129EFCE-5D34-8361-072F-12D994AE061D}"/>
              </a:ext>
            </a:extLst>
          </p:cNvPr>
          <p:cNvSpPr/>
          <p:nvPr/>
        </p:nvSpPr>
        <p:spPr>
          <a:xfrm>
            <a:off x="7155434" y="3208600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3" name="Plus Sign 1082">
            <a:extLst>
              <a:ext uri="{FF2B5EF4-FFF2-40B4-BE49-F238E27FC236}">
                <a16:creationId xmlns:a16="http://schemas.microsoft.com/office/drawing/2014/main" id="{DAC7F609-9E68-E4EE-0DB7-8AABB0479E1D}"/>
              </a:ext>
            </a:extLst>
          </p:cNvPr>
          <p:cNvSpPr/>
          <p:nvPr/>
        </p:nvSpPr>
        <p:spPr>
          <a:xfrm>
            <a:off x="7884253" y="3653835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4" name="Minus Sign 1083">
            <a:extLst>
              <a:ext uri="{FF2B5EF4-FFF2-40B4-BE49-F238E27FC236}">
                <a16:creationId xmlns:a16="http://schemas.microsoft.com/office/drawing/2014/main" id="{DC92FFA4-D0F9-C5DF-1D58-E30D387081BF}"/>
              </a:ext>
            </a:extLst>
          </p:cNvPr>
          <p:cNvSpPr/>
          <p:nvPr/>
        </p:nvSpPr>
        <p:spPr>
          <a:xfrm>
            <a:off x="8331598" y="3653835"/>
            <a:ext cx="225203" cy="259629"/>
          </a:xfrm>
          <a:prstGeom prst="mathMinus">
            <a:avLst/>
          </a:prstGeom>
          <a:solidFill>
            <a:srgbClr val="C6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5" name="Plus Sign 1084">
            <a:extLst>
              <a:ext uri="{FF2B5EF4-FFF2-40B4-BE49-F238E27FC236}">
                <a16:creationId xmlns:a16="http://schemas.microsoft.com/office/drawing/2014/main" id="{D86A9D36-1404-B01E-9FB3-25D497E6D15A}"/>
              </a:ext>
            </a:extLst>
          </p:cNvPr>
          <p:cNvSpPr/>
          <p:nvPr/>
        </p:nvSpPr>
        <p:spPr>
          <a:xfrm>
            <a:off x="7522753" y="3653835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6" name="Plus Sign 1085">
            <a:extLst>
              <a:ext uri="{FF2B5EF4-FFF2-40B4-BE49-F238E27FC236}">
                <a16:creationId xmlns:a16="http://schemas.microsoft.com/office/drawing/2014/main" id="{7064F71A-0B74-C047-CCD9-EC5456279C3C}"/>
              </a:ext>
            </a:extLst>
          </p:cNvPr>
          <p:cNvSpPr/>
          <p:nvPr/>
        </p:nvSpPr>
        <p:spPr>
          <a:xfrm>
            <a:off x="7155434" y="3653835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7" name="Plus Sign 1086">
            <a:extLst>
              <a:ext uri="{FF2B5EF4-FFF2-40B4-BE49-F238E27FC236}">
                <a16:creationId xmlns:a16="http://schemas.microsoft.com/office/drawing/2014/main" id="{D8345D11-5DA7-D462-6E99-90D1C1AB44A0}"/>
              </a:ext>
            </a:extLst>
          </p:cNvPr>
          <p:cNvSpPr/>
          <p:nvPr/>
        </p:nvSpPr>
        <p:spPr>
          <a:xfrm>
            <a:off x="6729192" y="3653835"/>
            <a:ext cx="225358" cy="259629"/>
          </a:xfrm>
          <a:prstGeom prst="mathPlus">
            <a:avLst/>
          </a:prstGeom>
          <a:solidFill>
            <a:srgbClr val="86B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743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136</Words>
  <Application>Microsoft Office PowerPoint</Application>
  <PresentationFormat>Custom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Neves</dc:creator>
  <cp:lastModifiedBy>Ana Neves</cp:lastModifiedBy>
  <cp:revision>2</cp:revision>
  <dcterms:created xsi:type="dcterms:W3CDTF">2026-03-29T13:31:02Z</dcterms:created>
  <dcterms:modified xsi:type="dcterms:W3CDTF">2026-03-30T15:13:27Z</dcterms:modified>
</cp:coreProperties>
</file>